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sldIdLst>
    <p:sldId id="256" r:id="rId2"/>
    <p:sldId id="257" r:id="rId3"/>
    <p:sldId id="276" r:id="rId4"/>
    <p:sldId id="258" r:id="rId5"/>
    <p:sldId id="274" r:id="rId6"/>
    <p:sldId id="259" r:id="rId7"/>
    <p:sldId id="268" r:id="rId8"/>
    <p:sldId id="269" r:id="rId9"/>
    <p:sldId id="270" r:id="rId10"/>
    <p:sldId id="271" r:id="rId11"/>
    <p:sldId id="272" r:id="rId12"/>
    <p:sldId id="260" r:id="rId13"/>
    <p:sldId id="261" r:id="rId14"/>
    <p:sldId id="263" r:id="rId15"/>
    <p:sldId id="262" r:id="rId16"/>
    <p:sldId id="264" r:id="rId17"/>
    <p:sldId id="265" r:id="rId18"/>
    <p:sldId id="279" r:id="rId19"/>
    <p:sldId id="277" r:id="rId20"/>
    <p:sldId id="278" r:id="rId21"/>
    <p:sldId id="266" r:id="rId22"/>
    <p:sldId id="273" r:id="rId23"/>
    <p:sldId id="275"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11/15/2023</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504834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8975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681162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1953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71360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43621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702348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893444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1227906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46620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11/15/2023</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8715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11/15/2023</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19252064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09" r:id="rId6"/>
    <p:sldLayoutId id="2147483705" r:id="rId7"/>
    <p:sldLayoutId id="2147483706" r:id="rId8"/>
    <p:sldLayoutId id="2147483707" r:id="rId9"/>
    <p:sldLayoutId id="2147483708" r:id="rId10"/>
    <p:sldLayoutId id="2147483710"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5D9C7-3D69-4AD9-B9BE-64EA283155A7}"/>
              </a:ext>
            </a:extLst>
          </p:cNvPr>
          <p:cNvSpPr>
            <a:spLocks noGrp="1"/>
          </p:cNvSpPr>
          <p:nvPr>
            <p:ph type="ctrTitle"/>
          </p:nvPr>
        </p:nvSpPr>
        <p:spPr>
          <a:xfrm>
            <a:off x="7443747" y="302265"/>
            <a:ext cx="3756670" cy="3339390"/>
          </a:xfrm>
        </p:spPr>
        <p:txBody>
          <a:bodyPr anchor="b">
            <a:normAutofit/>
          </a:bodyPr>
          <a:lstStyle/>
          <a:p>
            <a:r>
              <a:rPr lang="en-US" sz="3800" dirty="0"/>
              <a:t>Implement matrix multiplication using 8085 assembly language.</a:t>
            </a:r>
          </a:p>
        </p:txBody>
      </p:sp>
      <p:sp>
        <p:nvSpPr>
          <p:cNvPr id="3" name="Subtitle 2">
            <a:extLst>
              <a:ext uri="{FF2B5EF4-FFF2-40B4-BE49-F238E27FC236}">
                <a16:creationId xmlns:a16="http://schemas.microsoft.com/office/drawing/2014/main" id="{C0A866D6-F62B-4F6B-86BA-770D98C3C314}"/>
              </a:ext>
            </a:extLst>
          </p:cNvPr>
          <p:cNvSpPr>
            <a:spLocks noGrp="1"/>
          </p:cNvSpPr>
          <p:nvPr>
            <p:ph type="subTitle" idx="1"/>
          </p:nvPr>
        </p:nvSpPr>
        <p:spPr>
          <a:xfrm>
            <a:off x="7443747" y="3943920"/>
            <a:ext cx="3756669" cy="1553326"/>
          </a:xfrm>
        </p:spPr>
        <p:txBody>
          <a:bodyPr anchor="t">
            <a:normAutofit fontScale="25000" lnSpcReduction="20000"/>
          </a:bodyPr>
          <a:lstStyle/>
          <a:p>
            <a:endParaRPr lang="en-US" dirty="0"/>
          </a:p>
          <a:p>
            <a:r>
              <a:rPr lang="en-US" sz="12800" b="1" dirty="0"/>
              <a:t>Project by</a:t>
            </a:r>
          </a:p>
          <a:p>
            <a:r>
              <a:rPr lang="en-US" sz="7200" dirty="0"/>
              <a:t>Aayush Neupane</a:t>
            </a:r>
          </a:p>
          <a:p>
            <a:r>
              <a:rPr lang="en-US" sz="7200" dirty="0"/>
              <a:t>RA2211003012078 </a:t>
            </a:r>
          </a:p>
          <a:p>
            <a:r>
              <a:rPr lang="en-US" sz="7200" dirty="0"/>
              <a:t>Roshan Kr. Mishra</a:t>
            </a:r>
          </a:p>
          <a:p>
            <a:r>
              <a:rPr lang="en-US" sz="7200" dirty="0"/>
              <a:t>RA2211003012079</a:t>
            </a:r>
          </a:p>
          <a:p>
            <a:r>
              <a:rPr lang="en-US" sz="7200" dirty="0"/>
              <a:t>Manish </a:t>
            </a:r>
            <a:r>
              <a:rPr lang="en-US" sz="7200" dirty="0" err="1"/>
              <a:t>Mahasetha</a:t>
            </a:r>
            <a:endParaRPr lang="en-US" sz="7200" dirty="0"/>
          </a:p>
          <a:p>
            <a:r>
              <a:rPr lang="en-US" sz="7200" dirty="0"/>
              <a:t>RA2211003012083</a:t>
            </a:r>
          </a:p>
        </p:txBody>
      </p:sp>
      <p:pic>
        <p:nvPicPr>
          <p:cNvPr id="6" name="Picture 3">
            <a:extLst>
              <a:ext uri="{FF2B5EF4-FFF2-40B4-BE49-F238E27FC236}">
                <a16:creationId xmlns:a16="http://schemas.microsoft.com/office/drawing/2014/main" id="{63B512CB-57D4-7A6C-25AF-8CB26B0909A0}"/>
              </a:ext>
            </a:extLst>
          </p:cNvPr>
          <p:cNvPicPr>
            <a:picLocks noChangeAspect="1"/>
          </p:cNvPicPr>
          <p:nvPr/>
        </p:nvPicPr>
        <p:blipFill rotWithShape="1">
          <a:blip r:embed="rId2"/>
          <a:srcRect l="8209" r="17742"/>
          <a:stretch/>
        </p:blipFill>
        <p:spPr>
          <a:xfrm>
            <a:off x="0" y="10"/>
            <a:ext cx="7102529" cy="6857990"/>
          </a:xfrm>
          <a:prstGeom prst="rect">
            <a:avLst/>
          </a:prstGeom>
        </p:spPr>
      </p:pic>
      <p:sp>
        <p:nvSpPr>
          <p:cNvPr id="16"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165834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135EC-DB51-4303-A418-ED6AEBF27576}"/>
              </a:ext>
            </a:extLst>
          </p:cNvPr>
          <p:cNvSpPr>
            <a:spLocks noGrp="1"/>
          </p:cNvSpPr>
          <p:nvPr>
            <p:ph type="title"/>
          </p:nvPr>
        </p:nvSpPr>
        <p:spPr>
          <a:xfrm>
            <a:off x="688406" y="165338"/>
            <a:ext cx="10666949" cy="6328768"/>
          </a:xfrm>
        </p:spPr>
        <p:txBody>
          <a:bodyPr>
            <a:normAutofit/>
          </a:bodyPr>
          <a:lstStyle/>
          <a:p>
            <a:pPr algn="l">
              <a:buFont typeface="Arial" panose="020B0604020202020204" pitchFamily="34" charset="0"/>
              <a:buChar char="•"/>
            </a:pPr>
            <a:r>
              <a:rPr lang="en-US" sz="1800" dirty="0"/>
              <a:t>Abstract of the project</a:t>
            </a:r>
            <a:br>
              <a:rPr lang="en-US" sz="1800" dirty="0"/>
            </a:br>
            <a:br>
              <a:rPr lang="en-US" sz="1800" b="0" i="0" dirty="0">
                <a:solidFill>
                  <a:srgbClr val="D1D5DB"/>
                </a:solidFill>
                <a:effectLst/>
                <a:latin typeface="Söhne"/>
              </a:rPr>
            </a:br>
            <a:r>
              <a:rPr lang="en-US" sz="1800" b="0" i="0" dirty="0">
                <a:solidFill>
                  <a:schemeClr val="tx1"/>
                </a:solidFill>
                <a:effectLst/>
                <a:latin typeface="Söhne"/>
              </a:rPr>
              <a:t>Implementation of matrix multiplication using the 8085 assembly language.</a:t>
            </a:r>
            <a:br>
              <a:rPr lang="en-US" sz="1800" b="0" i="0" dirty="0">
                <a:solidFill>
                  <a:schemeClr val="tx1"/>
                </a:solidFill>
                <a:effectLst/>
                <a:latin typeface="Söhne"/>
              </a:rPr>
            </a:br>
            <a:r>
              <a:rPr lang="en-US" sz="1800" b="1" i="0" dirty="0">
                <a:solidFill>
                  <a:schemeClr val="tx1"/>
                </a:solidFill>
                <a:effectLst/>
                <a:latin typeface="Söhne"/>
              </a:rPr>
              <a:t>Microprocessor Architecture:</a:t>
            </a:r>
            <a:br>
              <a:rPr lang="en-US" sz="1800" b="0" i="0" dirty="0">
                <a:solidFill>
                  <a:schemeClr val="tx1"/>
                </a:solidFill>
                <a:effectLst/>
                <a:latin typeface="Söhne"/>
              </a:rPr>
            </a:br>
            <a:r>
              <a:rPr lang="en-US" sz="1800" b="0" i="0" dirty="0">
                <a:solidFill>
                  <a:schemeClr val="tx1"/>
                </a:solidFill>
                <a:effectLst/>
                <a:latin typeface="Söhne"/>
              </a:rPr>
              <a:t>Utilizing the classic 8085 microprocessor architecture.</a:t>
            </a:r>
            <a:br>
              <a:rPr lang="en-US" sz="1800" b="0" i="0" dirty="0">
                <a:solidFill>
                  <a:schemeClr val="tx1"/>
                </a:solidFill>
                <a:effectLst/>
                <a:latin typeface="Söhne"/>
              </a:rPr>
            </a:br>
            <a:r>
              <a:rPr lang="en-US" sz="1800" b="1" i="0" dirty="0">
                <a:solidFill>
                  <a:schemeClr val="tx1"/>
                </a:solidFill>
                <a:effectLst/>
                <a:latin typeface="Söhne"/>
              </a:rPr>
              <a:t>Algorithm Breakdown:</a:t>
            </a:r>
            <a:br>
              <a:rPr lang="en-US" sz="1800" b="0" i="0" dirty="0">
                <a:solidFill>
                  <a:schemeClr val="tx1"/>
                </a:solidFill>
                <a:effectLst/>
                <a:latin typeface="Söhne"/>
              </a:rPr>
            </a:br>
            <a:r>
              <a:rPr lang="en-US" sz="1800" b="0" i="0" dirty="0">
                <a:solidFill>
                  <a:schemeClr val="tx1"/>
                </a:solidFill>
                <a:effectLst/>
                <a:latin typeface="Söhne"/>
              </a:rPr>
              <a:t>Breaking down the matrix multiplication algorithm into key steps.</a:t>
            </a:r>
            <a:br>
              <a:rPr lang="en-US" sz="1800" b="0" i="0" dirty="0">
                <a:solidFill>
                  <a:schemeClr val="tx1"/>
                </a:solidFill>
                <a:effectLst/>
                <a:latin typeface="Söhne"/>
              </a:rPr>
            </a:br>
            <a:r>
              <a:rPr lang="en-US" sz="1800" b="1" i="0" dirty="0">
                <a:solidFill>
                  <a:schemeClr val="tx1"/>
                </a:solidFill>
                <a:effectLst/>
                <a:latin typeface="Söhne"/>
              </a:rPr>
              <a:t>Instruction Set Usage:</a:t>
            </a:r>
            <a:br>
              <a:rPr lang="en-US" sz="1800" b="0" i="0" dirty="0">
                <a:solidFill>
                  <a:schemeClr val="tx1"/>
                </a:solidFill>
                <a:effectLst/>
                <a:latin typeface="Söhne"/>
              </a:rPr>
            </a:br>
            <a:r>
              <a:rPr lang="en-US" sz="1800" b="0" i="0" dirty="0">
                <a:solidFill>
                  <a:schemeClr val="tx1"/>
                </a:solidFill>
                <a:effectLst/>
                <a:latin typeface="Söhne"/>
              </a:rPr>
              <a:t>Leveraging the 8085's arithmetic and logical instructions for efficient element-wise multiplication and accumulation of products.</a:t>
            </a:r>
            <a:br>
              <a:rPr lang="en-US" sz="1800" b="0" i="0" dirty="0">
                <a:solidFill>
                  <a:schemeClr val="tx1"/>
                </a:solidFill>
                <a:effectLst/>
                <a:latin typeface="Söhne"/>
              </a:rPr>
            </a:br>
            <a:r>
              <a:rPr lang="en-US" sz="1800" b="1" i="0" dirty="0">
                <a:solidFill>
                  <a:schemeClr val="tx1"/>
                </a:solidFill>
                <a:effectLst/>
                <a:latin typeface="Söhne"/>
              </a:rPr>
              <a:t>Matrix Handling:</a:t>
            </a:r>
            <a:br>
              <a:rPr lang="en-US" sz="1800" b="0" i="0" dirty="0">
                <a:solidFill>
                  <a:schemeClr val="tx1"/>
                </a:solidFill>
                <a:effectLst/>
                <a:latin typeface="Söhne"/>
              </a:rPr>
            </a:br>
            <a:r>
              <a:rPr lang="en-US" sz="1800" b="0" i="0" dirty="0">
                <a:solidFill>
                  <a:schemeClr val="tx1"/>
                </a:solidFill>
                <a:effectLst/>
                <a:latin typeface="Söhne"/>
              </a:rPr>
              <a:t>Designing assembly code capable of handling matrices with varying dimensions.</a:t>
            </a:r>
            <a:br>
              <a:rPr lang="en-US" sz="1800" b="0" i="0" dirty="0">
                <a:solidFill>
                  <a:schemeClr val="tx1"/>
                </a:solidFill>
                <a:effectLst/>
                <a:latin typeface="Söhne"/>
              </a:rPr>
            </a:br>
            <a:r>
              <a:rPr lang="en-US" sz="1800" b="1" i="0" dirty="0">
                <a:solidFill>
                  <a:schemeClr val="tx1"/>
                </a:solidFill>
                <a:effectLst/>
                <a:latin typeface="Söhne"/>
              </a:rPr>
              <a:t>Optimization Focus:</a:t>
            </a:r>
            <a:br>
              <a:rPr lang="en-US" sz="1800" b="0" i="0" dirty="0">
                <a:solidFill>
                  <a:schemeClr val="tx1"/>
                </a:solidFill>
                <a:effectLst/>
                <a:latin typeface="Söhne"/>
              </a:rPr>
            </a:br>
            <a:r>
              <a:rPr lang="en-US" sz="1800" b="0" i="0" dirty="0">
                <a:solidFill>
                  <a:schemeClr val="tx1"/>
                </a:solidFill>
                <a:effectLst/>
                <a:latin typeface="Söhne"/>
              </a:rPr>
              <a:t>Emphasizing code optimization and minimizing memory usage within the constraints of the 8085.</a:t>
            </a:r>
            <a:br>
              <a:rPr lang="en-US" sz="1800" b="0" i="0" dirty="0">
                <a:solidFill>
                  <a:schemeClr val="tx1"/>
                </a:solidFill>
                <a:effectLst/>
                <a:latin typeface="Söhne"/>
              </a:rPr>
            </a:br>
            <a:r>
              <a:rPr lang="en-US" sz="1800" b="1" i="0" dirty="0">
                <a:solidFill>
                  <a:schemeClr val="tx1"/>
                </a:solidFill>
                <a:effectLst/>
                <a:latin typeface="Söhne"/>
              </a:rPr>
              <a:t>Educational Resource:</a:t>
            </a:r>
            <a:br>
              <a:rPr lang="en-US" sz="1800" b="0" i="0" dirty="0">
                <a:solidFill>
                  <a:schemeClr val="tx1"/>
                </a:solidFill>
                <a:effectLst/>
                <a:latin typeface="Söhne"/>
              </a:rPr>
            </a:br>
            <a:r>
              <a:rPr lang="en-US" sz="1800" b="0" i="0" dirty="0">
                <a:solidFill>
                  <a:schemeClr val="tx1"/>
                </a:solidFill>
                <a:effectLst/>
                <a:latin typeface="Söhne"/>
              </a:rPr>
              <a:t>Serving as a valuable resource for students studying assembly language programming and computer architecture.</a:t>
            </a:r>
            <a:br>
              <a:rPr lang="en-US" sz="1800" b="0" i="0" dirty="0">
                <a:solidFill>
                  <a:schemeClr val="tx1"/>
                </a:solidFill>
                <a:effectLst/>
                <a:latin typeface="Söhne"/>
              </a:rPr>
            </a:br>
            <a:r>
              <a:rPr lang="en-US" sz="1800" b="1" i="0" dirty="0">
                <a:solidFill>
                  <a:schemeClr val="tx1"/>
                </a:solidFill>
                <a:effectLst/>
                <a:latin typeface="Söhne"/>
              </a:rPr>
              <a:t>Insights Offered:</a:t>
            </a:r>
            <a:br>
              <a:rPr lang="en-US" sz="1800" b="0" i="0" dirty="0">
                <a:solidFill>
                  <a:schemeClr val="tx1"/>
                </a:solidFill>
                <a:effectLst/>
                <a:latin typeface="Söhne"/>
              </a:rPr>
            </a:br>
            <a:r>
              <a:rPr lang="en-US" sz="1800" b="0" i="0" dirty="0">
                <a:solidFill>
                  <a:schemeClr val="tx1"/>
                </a:solidFill>
                <a:effectLst/>
                <a:latin typeface="Söhne"/>
              </a:rPr>
              <a:t>Providing insights into algorithm implementation on a historic microprocessor architecture.</a:t>
            </a:r>
            <a:br>
              <a:rPr lang="en-US" sz="1800" b="0" i="0" dirty="0">
                <a:solidFill>
                  <a:schemeClr val="tx1"/>
                </a:solidFill>
                <a:effectLst/>
                <a:latin typeface="Söhne"/>
              </a:rPr>
            </a:br>
            <a:r>
              <a:rPr lang="en-US" sz="1800" b="1" i="0" dirty="0">
                <a:solidFill>
                  <a:schemeClr val="tx1"/>
                </a:solidFill>
                <a:effectLst/>
                <a:latin typeface="Söhne"/>
              </a:rPr>
              <a:t>Capabilities Showcase:</a:t>
            </a:r>
            <a:br>
              <a:rPr lang="en-US" sz="1800" b="0" i="0" dirty="0">
                <a:solidFill>
                  <a:schemeClr val="tx1"/>
                </a:solidFill>
                <a:effectLst/>
                <a:latin typeface="Söhne"/>
              </a:rPr>
            </a:br>
            <a:r>
              <a:rPr lang="en-US" sz="1800" b="0" i="0" dirty="0">
                <a:solidFill>
                  <a:schemeClr val="tx1"/>
                </a:solidFill>
                <a:effectLst/>
                <a:latin typeface="Söhne"/>
              </a:rPr>
              <a:t>Demonstrating the capabilities of the 8085 microprocessor </a:t>
            </a:r>
            <a:r>
              <a:rPr lang="en-US" sz="1800" b="0" i="0" dirty="0">
                <a:solidFill>
                  <a:srgbClr val="D1D5DB"/>
                </a:solidFill>
                <a:effectLst/>
                <a:latin typeface="Söhne"/>
              </a:rPr>
              <a:t>through practical application.</a:t>
            </a:r>
            <a:br>
              <a:rPr lang="en-US" sz="1800" b="0" i="0" dirty="0">
                <a:solidFill>
                  <a:srgbClr val="D1D5DB"/>
                </a:solidFill>
                <a:effectLst/>
                <a:latin typeface="Söhne"/>
              </a:rPr>
            </a:br>
            <a:br>
              <a:rPr lang="en-US" sz="1800" dirty="0"/>
            </a:br>
            <a:endParaRPr lang="en-US" sz="1800" dirty="0"/>
          </a:p>
        </p:txBody>
      </p:sp>
    </p:spTree>
    <p:extLst>
      <p:ext uri="{BB962C8B-B14F-4D97-AF65-F5344CB8AC3E}">
        <p14:creationId xmlns:p14="http://schemas.microsoft.com/office/powerpoint/2010/main" val="2176703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8927-96D1-46E4-BC8C-840DE090F49A}"/>
              </a:ext>
            </a:extLst>
          </p:cNvPr>
          <p:cNvSpPr>
            <a:spLocks noGrp="1"/>
          </p:cNvSpPr>
          <p:nvPr>
            <p:ph type="title"/>
          </p:nvPr>
        </p:nvSpPr>
        <p:spPr>
          <a:xfrm>
            <a:off x="0" y="0"/>
            <a:ext cx="12192000" cy="6858000"/>
          </a:xfrm>
        </p:spPr>
        <p:txBody>
          <a:bodyPr>
            <a:normAutofit/>
          </a:bodyPr>
          <a:lstStyle/>
          <a:p>
            <a:r>
              <a:rPr lang="en-US" sz="3200" dirty="0"/>
              <a:t>                                  </a:t>
            </a:r>
            <a:r>
              <a:rPr lang="en-US" sz="4000" dirty="0"/>
              <a:t>ACKNOWLEDGEMENT</a:t>
            </a:r>
            <a:br>
              <a:rPr lang="en-US" sz="4000" dirty="0"/>
            </a:br>
            <a:br>
              <a:rPr lang="en-US" sz="4000" dirty="0"/>
            </a:br>
            <a:r>
              <a:rPr lang="en-US" sz="2400" dirty="0"/>
              <a:t>We express our heartfelt thanks to our honorable Vice Chancellor Dr. C. MUTHAMIZHCHELVAN, for </a:t>
            </a:r>
            <a:r>
              <a:rPr lang="en-US" sz="2400" dirty="0" err="1"/>
              <a:t>beingthe</a:t>
            </a:r>
            <a:r>
              <a:rPr lang="en-US" sz="2400" dirty="0"/>
              <a:t> beacon in all our endeavors. We would like to express my warmth of gratitude to our Registrar Dr. </a:t>
            </a:r>
            <a:r>
              <a:rPr lang="en-US" sz="2400" dirty="0" err="1"/>
              <a:t>S.Ponnusamy</a:t>
            </a:r>
            <a:r>
              <a:rPr lang="en-US" sz="2400" dirty="0"/>
              <a:t>, for his </a:t>
            </a:r>
            <a:r>
              <a:rPr lang="en-US" sz="2400" dirty="0" err="1"/>
              <a:t>encouragement.We</a:t>
            </a:r>
            <a:r>
              <a:rPr lang="en-US" sz="2400" dirty="0"/>
              <a:t> express our profound gratitude to our Dean (College of Engineering and Technology) Dr. T. Gopal, </a:t>
            </a:r>
            <a:r>
              <a:rPr lang="en-US" sz="2400" dirty="0" err="1"/>
              <a:t>forbringing</a:t>
            </a:r>
            <a:r>
              <a:rPr lang="en-US" sz="2400" dirty="0"/>
              <a:t> out novelty in all executions. We would like to express my heartfelt thanks to Chairperson, School </a:t>
            </a:r>
            <a:r>
              <a:rPr lang="en-US" sz="2400" dirty="0" err="1"/>
              <a:t>ofComputing</a:t>
            </a:r>
            <a:r>
              <a:rPr lang="en-US" sz="2400" dirty="0"/>
              <a:t> Dr. Revathi Venkataraman, for imparting confidence to complete my course </a:t>
            </a:r>
            <a:r>
              <a:rPr lang="en-US" sz="2400" dirty="0" err="1"/>
              <a:t>project.We</a:t>
            </a:r>
            <a:r>
              <a:rPr lang="en-US" sz="2400" dirty="0"/>
              <a:t> are highly thankful to our Course project Faculty Dr. R. </a:t>
            </a:r>
            <a:r>
              <a:rPr lang="en-US" sz="2400" dirty="0" err="1"/>
              <a:t>Brindha</a:t>
            </a:r>
            <a:r>
              <a:rPr lang="en-US" sz="2400" dirty="0"/>
              <a:t>, Assistant Professor, Department </a:t>
            </a:r>
            <a:r>
              <a:rPr lang="en-US" sz="2400" dirty="0" err="1"/>
              <a:t>ofComputing</a:t>
            </a:r>
            <a:r>
              <a:rPr lang="en-US" sz="2400" dirty="0"/>
              <a:t> Technologies, for her assistance, timely suggestion and guidance throughout the duration of </a:t>
            </a:r>
            <a:r>
              <a:rPr lang="en-US" sz="2400" dirty="0" err="1"/>
              <a:t>thiscourse</a:t>
            </a:r>
            <a:r>
              <a:rPr lang="en-US" sz="2400" dirty="0"/>
              <a:t> </a:t>
            </a:r>
            <a:r>
              <a:rPr lang="en-US" sz="2400" dirty="0" err="1"/>
              <a:t>project.We</a:t>
            </a:r>
            <a:r>
              <a:rPr lang="en-US" sz="2400" dirty="0"/>
              <a:t> extend my gratitude to our </a:t>
            </a:r>
            <a:r>
              <a:rPr lang="en-US" sz="2400" dirty="0" err="1"/>
              <a:t>HoD</a:t>
            </a:r>
            <a:r>
              <a:rPr lang="en-US" sz="2400" dirty="0"/>
              <a:t>, Dr. </a:t>
            </a:r>
            <a:r>
              <a:rPr lang="en-US" sz="2400" dirty="0" err="1"/>
              <a:t>Pushpalatha</a:t>
            </a:r>
            <a:r>
              <a:rPr lang="en-US" sz="2400" dirty="0"/>
              <a:t> M, Professor &amp;amp; Head, Department of </a:t>
            </a:r>
            <a:r>
              <a:rPr lang="en-US" sz="2400" dirty="0" err="1"/>
              <a:t>ComputingTechnologies</a:t>
            </a:r>
            <a:r>
              <a:rPr lang="en-US" sz="2400" dirty="0"/>
              <a:t> and my Departmental colleagues for their </a:t>
            </a:r>
            <a:r>
              <a:rPr lang="en-US" sz="2400" dirty="0" err="1"/>
              <a:t>Support.Finally</a:t>
            </a:r>
            <a:r>
              <a:rPr lang="en-US" sz="2400" dirty="0"/>
              <a:t>, we thank our parents and friends near and dear ones who directly and indirectly contributed to </a:t>
            </a:r>
            <a:r>
              <a:rPr lang="en-US" sz="2400" dirty="0" err="1"/>
              <a:t>thesuccessful</a:t>
            </a:r>
            <a:r>
              <a:rPr lang="en-US" sz="2400" dirty="0"/>
              <a:t> completion of our project. Above all, I thank the almighty for showering his blessings on me </a:t>
            </a:r>
            <a:r>
              <a:rPr lang="en-US" sz="2400" dirty="0" err="1"/>
              <a:t>tocomplete</a:t>
            </a:r>
            <a:r>
              <a:rPr lang="en-US" sz="2400" dirty="0"/>
              <a:t> my Course project.</a:t>
            </a:r>
          </a:p>
        </p:txBody>
      </p:sp>
    </p:spTree>
    <p:extLst>
      <p:ext uri="{BB962C8B-B14F-4D97-AF65-F5344CB8AC3E}">
        <p14:creationId xmlns:p14="http://schemas.microsoft.com/office/powerpoint/2010/main" val="1473157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5F0EF3-9C11-4C30-A323-30CC88B5E3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260424" cy="6736702"/>
          </a:xfrm>
          <a:prstGeom prst="rect">
            <a:avLst/>
          </a:prstGeom>
        </p:spPr>
      </p:pic>
    </p:spTree>
    <p:extLst>
      <p:ext uri="{BB962C8B-B14F-4D97-AF65-F5344CB8AC3E}">
        <p14:creationId xmlns:p14="http://schemas.microsoft.com/office/powerpoint/2010/main" val="2999568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FE4313-5CF9-4FE7-AFEC-5A5E19471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3106" y="1567544"/>
            <a:ext cx="6361392" cy="4432040"/>
          </a:xfrm>
          <a:prstGeom prst="rect">
            <a:avLst/>
          </a:prstGeom>
        </p:spPr>
      </p:pic>
      <p:sp>
        <p:nvSpPr>
          <p:cNvPr id="4" name="TextBox 3">
            <a:extLst>
              <a:ext uri="{FF2B5EF4-FFF2-40B4-BE49-F238E27FC236}">
                <a16:creationId xmlns:a16="http://schemas.microsoft.com/office/drawing/2014/main" id="{04FE7C62-7F4A-404B-8E00-EFDBA7C7F3EC}"/>
              </a:ext>
            </a:extLst>
          </p:cNvPr>
          <p:cNvSpPr txBox="1"/>
          <p:nvPr/>
        </p:nvSpPr>
        <p:spPr>
          <a:xfrm>
            <a:off x="2621902" y="541176"/>
            <a:ext cx="4161453" cy="646331"/>
          </a:xfrm>
          <a:prstGeom prst="rect">
            <a:avLst/>
          </a:prstGeom>
          <a:noFill/>
        </p:spPr>
        <p:txBody>
          <a:bodyPr wrap="square" rtlCol="0">
            <a:spAutoFit/>
          </a:bodyPr>
          <a:lstStyle/>
          <a:p>
            <a:r>
              <a:rPr lang="en-US" dirty="0"/>
              <a:t>Block diagram for matrix multiplication</a:t>
            </a:r>
          </a:p>
        </p:txBody>
      </p:sp>
    </p:spTree>
    <p:extLst>
      <p:ext uri="{BB962C8B-B14F-4D97-AF65-F5344CB8AC3E}">
        <p14:creationId xmlns:p14="http://schemas.microsoft.com/office/powerpoint/2010/main" val="1804565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E577A-7C74-4E74-A09F-82A11C2226B6}"/>
              </a:ext>
            </a:extLst>
          </p:cNvPr>
          <p:cNvSpPr>
            <a:spLocks noGrp="1"/>
          </p:cNvSpPr>
          <p:nvPr>
            <p:ph type="title"/>
          </p:nvPr>
        </p:nvSpPr>
        <p:spPr>
          <a:xfrm>
            <a:off x="511124" y="146677"/>
            <a:ext cx="10666949" cy="6300776"/>
          </a:xfrm>
        </p:spPr>
        <p:txBody>
          <a:bodyPr>
            <a:normAutofit/>
          </a:bodyPr>
          <a:lstStyle/>
          <a:p>
            <a:pPr algn="l">
              <a:buFont typeface="Arial" panose="020B0604020202020204" pitchFamily="34" charset="0"/>
              <a:buChar char="•"/>
            </a:pPr>
            <a:r>
              <a:rPr lang="en-US" dirty="0"/>
              <a:t>Problem Statement </a:t>
            </a:r>
            <a:br>
              <a:rPr lang="en-US" dirty="0"/>
            </a:br>
            <a:br>
              <a:rPr lang="en-US" dirty="0"/>
            </a:br>
            <a:r>
              <a:rPr lang="en-US" sz="2000" b="1" i="0" dirty="0">
                <a:solidFill>
                  <a:schemeClr val="tx1"/>
                </a:solidFill>
                <a:effectLst/>
                <a:latin typeface="Söhne"/>
              </a:rPr>
              <a:t>Microprocessor Architecture:</a:t>
            </a:r>
            <a:br>
              <a:rPr lang="en-US" sz="2000" b="0" i="0" dirty="0">
                <a:solidFill>
                  <a:schemeClr val="tx1"/>
                </a:solidFill>
                <a:effectLst/>
                <a:latin typeface="Söhne"/>
              </a:rPr>
            </a:br>
            <a:r>
              <a:rPr lang="en-US" sz="2000" b="0" i="0" dirty="0">
                <a:solidFill>
                  <a:schemeClr val="tx1"/>
                </a:solidFill>
                <a:effectLst/>
                <a:latin typeface="Söhne"/>
              </a:rPr>
              <a:t>Utilizing the seminal 8085 microprocessor architecture.</a:t>
            </a:r>
            <a:br>
              <a:rPr lang="en-US" sz="2000" b="0" i="0" dirty="0">
                <a:solidFill>
                  <a:schemeClr val="tx1"/>
                </a:solidFill>
                <a:effectLst/>
                <a:latin typeface="Söhne"/>
              </a:rPr>
            </a:br>
            <a:r>
              <a:rPr lang="en-US" sz="2000" b="1" i="0" dirty="0">
                <a:solidFill>
                  <a:schemeClr val="tx1"/>
                </a:solidFill>
                <a:effectLst/>
                <a:latin typeface="Söhne"/>
              </a:rPr>
              <a:t>Optimization Challenge:</a:t>
            </a:r>
            <a:br>
              <a:rPr lang="en-US" sz="2000" b="0" i="0" dirty="0">
                <a:solidFill>
                  <a:schemeClr val="tx1"/>
                </a:solidFill>
                <a:effectLst/>
                <a:latin typeface="Söhne"/>
              </a:rPr>
            </a:br>
            <a:r>
              <a:rPr lang="en-US" sz="2000" b="0" i="0" dirty="0">
                <a:solidFill>
                  <a:schemeClr val="tx1"/>
                </a:solidFill>
                <a:effectLst/>
                <a:latin typeface="Söhne"/>
              </a:rPr>
              <a:t>Creating optimized assembly code for efficient execution of the matrix multiplication algorithm within 8085 constraints.</a:t>
            </a:r>
            <a:br>
              <a:rPr lang="en-US" sz="2000" b="0" i="0" dirty="0">
                <a:solidFill>
                  <a:schemeClr val="tx1"/>
                </a:solidFill>
                <a:effectLst/>
                <a:latin typeface="Söhne"/>
              </a:rPr>
            </a:br>
            <a:r>
              <a:rPr lang="en-US" sz="2000" b="1" i="0" dirty="0">
                <a:solidFill>
                  <a:schemeClr val="tx1"/>
                </a:solidFill>
                <a:effectLst/>
                <a:latin typeface="Söhne"/>
              </a:rPr>
              <a:t>Algorithmic Accommodation:</a:t>
            </a:r>
            <a:br>
              <a:rPr lang="en-US" sz="2000" b="0" i="0" dirty="0">
                <a:solidFill>
                  <a:schemeClr val="tx1"/>
                </a:solidFill>
                <a:effectLst/>
                <a:latin typeface="Söhne"/>
              </a:rPr>
            </a:br>
            <a:r>
              <a:rPr lang="en-US" sz="2000" b="0" i="0" dirty="0">
                <a:solidFill>
                  <a:schemeClr val="tx1"/>
                </a:solidFill>
                <a:effectLst/>
                <a:latin typeface="Söhne"/>
              </a:rPr>
              <a:t>Adapting the assembly code to handle varying matrix dimensions.</a:t>
            </a:r>
            <a:br>
              <a:rPr lang="en-US" sz="2000" b="0" i="0" dirty="0">
                <a:solidFill>
                  <a:schemeClr val="tx1"/>
                </a:solidFill>
                <a:effectLst/>
                <a:latin typeface="Söhne"/>
              </a:rPr>
            </a:br>
            <a:r>
              <a:rPr lang="en-US" sz="2000" b="1" i="0" dirty="0">
                <a:solidFill>
                  <a:schemeClr val="tx1"/>
                </a:solidFill>
                <a:effectLst/>
                <a:latin typeface="Söhne"/>
              </a:rPr>
              <a:t>Efficiency Focus:</a:t>
            </a:r>
            <a:br>
              <a:rPr lang="en-US" sz="2000" b="0" i="0" dirty="0">
                <a:solidFill>
                  <a:schemeClr val="tx1"/>
                </a:solidFill>
                <a:effectLst/>
                <a:latin typeface="Söhne"/>
              </a:rPr>
            </a:br>
            <a:r>
              <a:rPr lang="en-US" sz="2000" b="0" i="0" dirty="0">
                <a:solidFill>
                  <a:schemeClr val="tx1"/>
                </a:solidFill>
                <a:effectLst/>
                <a:latin typeface="Söhne"/>
              </a:rPr>
              <a:t>Ensuring efficient performance and minimal memory usage within the limitations of the 8085 architecture.</a:t>
            </a:r>
            <a:br>
              <a:rPr lang="en-US" sz="2000" b="0" i="0" dirty="0">
                <a:solidFill>
                  <a:schemeClr val="tx1"/>
                </a:solidFill>
                <a:effectLst/>
                <a:latin typeface="Söhne"/>
              </a:rPr>
            </a:br>
            <a:r>
              <a:rPr lang="en-US" sz="2000" b="1" i="0" dirty="0">
                <a:solidFill>
                  <a:schemeClr val="tx1"/>
                </a:solidFill>
                <a:effectLst/>
                <a:latin typeface="Söhne"/>
              </a:rPr>
              <a:t>Showcasing Viability:</a:t>
            </a:r>
            <a:br>
              <a:rPr lang="en-US" sz="2000" b="0" i="0" dirty="0">
                <a:solidFill>
                  <a:schemeClr val="tx1"/>
                </a:solidFill>
                <a:effectLst/>
                <a:latin typeface="Söhne"/>
              </a:rPr>
            </a:br>
            <a:r>
              <a:rPr lang="en-US" sz="2000" b="0" i="0" dirty="0">
                <a:solidFill>
                  <a:schemeClr val="tx1"/>
                </a:solidFill>
                <a:effectLst/>
                <a:latin typeface="Söhne"/>
              </a:rPr>
              <a:t>Demonstrating the viability of matrix multiplication using 8085 assembly language.</a:t>
            </a:r>
            <a:br>
              <a:rPr lang="en-US" sz="2000" b="0" i="0" dirty="0">
                <a:solidFill>
                  <a:schemeClr val="tx1"/>
                </a:solidFill>
                <a:effectLst/>
                <a:latin typeface="Söhne"/>
              </a:rPr>
            </a:br>
            <a:r>
              <a:rPr lang="en-US" sz="2000" b="1" i="0" dirty="0">
                <a:solidFill>
                  <a:schemeClr val="tx1"/>
                </a:solidFill>
                <a:effectLst/>
                <a:latin typeface="Söhne"/>
              </a:rPr>
              <a:t>Educational Goals:</a:t>
            </a:r>
            <a:br>
              <a:rPr lang="en-US" sz="2000" b="0" i="0" dirty="0">
                <a:solidFill>
                  <a:schemeClr val="tx1"/>
                </a:solidFill>
                <a:effectLst/>
                <a:latin typeface="Söhne"/>
              </a:rPr>
            </a:br>
            <a:r>
              <a:rPr lang="en-US" sz="2000" b="0" i="0" dirty="0">
                <a:solidFill>
                  <a:schemeClr val="tx1"/>
                </a:solidFill>
                <a:effectLst/>
                <a:latin typeface="Söhne"/>
              </a:rPr>
              <a:t>Providing insights into low-level programming, algorithm implementation, and microprocessor capabilities.</a:t>
            </a:r>
            <a:br>
              <a:rPr lang="en-US" sz="2000" b="0" i="0" dirty="0">
                <a:solidFill>
                  <a:schemeClr val="tx1"/>
                </a:solidFill>
                <a:effectLst/>
                <a:latin typeface="Söhne"/>
              </a:rPr>
            </a:b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endParaRPr>
          </a:p>
        </p:txBody>
      </p:sp>
    </p:spTree>
    <p:extLst>
      <p:ext uri="{BB962C8B-B14F-4D97-AF65-F5344CB8AC3E}">
        <p14:creationId xmlns:p14="http://schemas.microsoft.com/office/powerpoint/2010/main" val="2102704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781BF-1DBD-43EA-ACFA-04329DF2FB12}"/>
              </a:ext>
            </a:extLst>
          </p:cNvPr>
          <p:cNvSpPr>
            <a:spLocks noGrp="1"/>
          </p:cNvSpPr>
          <p:nvPr>
            <p:ph type="title"/>
          </p:nvPr>
        </p:nvSpPr>
        <p:spPr>
          <a:xfrm>
            <a:off x="0" y="0"/>
            <a:ext cx="12192000" cy="6858000"/>
          </a:xfrm>
        </p:spPr>
        <p:txBody>
          <a:bodyPr>
            <a:normAutofit fontScale="90000"/>
          </a:bodyPr>
          <a:lstStyle/>
          <a:p>
            <a:r>
              <a:rPr lang="en-US" sz="2000" dirty="0">
                <a:latin typeface="Times New Roman" panose="02020603050405020304" pitchFamily="18" charset="0"/>
                <a:cs typeface="Times New Roman" panose="02020603050405020304" pitchFamily="18" charset="0"/>
              </a:rPr>
              <a:t>Algorithm</a:t>
            </a: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Initialization:   - `MVI C, 00`: Initializes register C with the value 00 (presumably for loop counter or some other purpose).   - `LXI H, 8500`: Loads HL with the memory address 8500.</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LOOP2: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is the start of a loop.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`LXI D, 8600`: Loads DE with the memory address 8600.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*Call Subroutine MUL*: This subroutine seems to multiply the contents of memory locations pointed by DE and HL, and store the result in A.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`MOV B, A`: Copies the content of A to B.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`INX H`: Increments HL.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`INX D`: Increments DE twice.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*Call Subroutine MUL* again.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`ADD B`: Adds the content of B to A.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*Call Subroutine STORE*: This subroutine seems to store the content of A in a memory location pointed by BC.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`DCX H`: Decrements HL.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`DCX D`: Decrements DE twice.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*Call Subroutine MUL* once more.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`MOV B, A`: Copies the content of A to B.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`INX H`: Increments HL.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`INX D`: Increments DE twice.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`ADD B`: Adds the content of B to A.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*Call Subroutine STORE*: Stores the content of A in a memory location pointed by BC.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`MOV A, C`: Moves the content of C to A.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`CPI 04`: Compares A with the immediate value 04.</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254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1D312-9273-4F42-BB74-6C1C9FE2D68D}"/>
              </a:ext>
            </a:extLst>
          </p:cNvPr>
          <p:cNvSpPr>
            <a:spLocks noGrp="1"/>
          </p:cNvSpPr>
          <p:nvPr>
            <p:ph type="title"/>
          </p:nvPr>
        </p:nvSpPr>
        <p:spPr>
          <a:xfrm>
            <a:off x="0" y="14880"/>
            <a:ext cx="12192000" cy="6843119"/>
          </a:xfrm>
        </p:spPr>
        <p:txBody>
          <a:bodyPr>
            <a:normAutofit fontScale="90000"/>
          </a:bodyPr>
          <a:lstStyle/>
          <a:p>
            <a:r>
              <a:rPr lang="en-US" sz="2800" dirty="0"/>
              <a:t>3</a:t>
            </a:r>
            <a:r>
              <a:rPr lang="en-US" sz="2000" dirty="0"/>
              <a:t>. Conditional Jump:  </a:t>
            </a:r>
            <a:br>
              <a:rPr lang="en-US" sz="2000" dirty="0"/>
            </a:br>
            <a:r>
              <a:rPr lang="en-US" sz="2000" dirty="0"/>
              <a:t> - `JZ LOOP1`: Jumps to LOOP1 if the Zero flag is set (meaning A is equal to 4).</a:t>
            </a:r>
            <a:br>
              <a:rPr lang="en-US" sz="2000" dirty="0"/>
            </a:br>
            <a:r>
              <a:rPr lang="en-US" sz="2800" dirty="0"/>
              <a:t>4</a:t>
            </a:r>
            <a:r>
              <a:rPr lang="en-US" sz="2000" dirty="0"/>
              <a:t>. More Incrementing and Looping:  </a:t>
            </a:r>
            <a:br>
              <a:rPr lang="en-US" sz="2000" dirty="0"/>
            </a:br>
            <a:r>
              <a:rPr lang="en-US" sz="2000" dirty="0"/>
              <a:t> - `INX H`: Increments HL.  </a:t>
            </a:r>
            <a:br>
              <a:rPr lang="en-US" sz="2000" dirty="0"/>
            </a:br>
            <a:r>
              <a:rPr lang="en-US" sz="2000" dirty="0"/>
              <a:t> - `JMP LOOP2`: Jumps back to the start of.</a:t>
            </a:r>
            <a:br>
              <a:rPr lang="en-US" sz="2000" dirty="0"/>
            </a:br>
            <a:br>
              <a:rPr lang="en-US" sz="2000" dirty="0"/>
            </a:br>
            <a:r>
              <a:rPr lang="en-US" sz="3100" dirty="0"/>
              <a:t>5.</a:t>
            </a:r>
            <a:r>
              <a:rPr lang="en-US" sz="2000" dirty="0"/>
              <a:t> LOOP1:  </a:t>
            </a:r>
            <a:br>
              <a:rPr lang="en-US" sz="2000" dirty="0"/>
            </a:br>
            <a:r>
              <a:rPr lang="en-US" sz="2000" dirty="0"/>
              <a:t> - This is the label where the program goes if A is equal to 4.  </a:t>
            </a:r>
            <a:br>
              <a:rPr lang="en-US" sz="2000" dirty="0"/>
            </a:br>
            <a:r>
              <a:rPr lang="en-US" sz="2000" dirty="0"/>
              <a:t> - `HLT`: Halts the microprocessor.</a:t>
            </a:r>
            <a:br>
              <a:rPr lang="en-US" sz="2000" dirty="0"/>
            </a:br>
            <a:br>
              <a:rPr lang="en-US" sz="2000" dirty="0"/>
            </a:br>
            <a:r>
              <a:rPr lang="en-US" sz="2800" dirty="0"/>
              <a:t>6</a:t>
            </a:r>
            <a:r>
              <a:rPr lang="en-US" sz="2000" dirty="0"/>
              <a:t>. Subroutine MUL:   </a:t>
            </a:r>
            <a:br>
              <a:rPr lang="en-US" sz="2000" dirty="0"/>
            </a:br>
            <a:r>
              <a:rPr lang="en-US" sz="2000" dirty="0"/>
              <a:t>- This subroutine performs the following steps:     </a:t>
            </a:r>
            <a:br>
              <a:rPr lang="en-US" sz="2000" dirty="0"/>
            </a:br>
            <a:r>
              <a:rPr lang="en-US" sz="2000" dirty="0"/>
              <a:t>- `LDAX D`: Loads A from the memory location pointed by DE.     </a:t>
            </a:r>
            <a:br>
              <a:rPr lang="en-US" sz="2000" dirty="0"/>
            </a:br>
            <a:r>
              <a:rPr lang="en-US" sz="2000" dirty="0"/>
              <a:t>- `MOV D, A`: Copies A to D.    </a:t>
            </a:r>
            <a:br>
              <a:rPr lang="en-US" sz="2000" dirty="0"/>
            </a:br>
            <a:r>
              <a:rPr lang="en-US" sz="2000" dirty="0"/>
              <a:t> - `MOV H, M`: Copies the content of the memory location pointed by HL to H.     </a:t>
            </a:r>
            <a:br>
              <a:rPr lang="en-US" sz="2000" dirty="0"/>
            </a:br>
            <a:r>
              <a:rPr lang="en-US" sz="2000" dirty="0"/>
              <a:t>- `DCR H`: Decrements H.     </a:t>
            </a:r>
            <a:br>
              <a:rPr lang="en-US" sz="2000" dirty="0"/>
            </a:br>
            <a:r>
              <a:rPr lang="en-US" sz="2000" dirty="0"/>
              <a:t>- `JZ LOOP3`: Jumps to LOOP3 if H is zero.     </a:t>
            </a:r>
            <a:br>
              <a:rPr lang="en-US" sz="2000" dirty="0"/>
            </a:br>
            <a:r>
              <a:rPr lang="en-US" sz="2000" dirty="0"/>
              <a:t>- *LOOP4*: This is a loop label.       </a:t>
            </a:r>
            <a:br>
              <a:rPr lang="en-US" sz="2000" dirty="0"/>
            </a:br>
            <a:r>
              <a:rPr lang="en-US" sz="2000" dirty="0"/>
              <a:t>- `ADD D`: Adds D to A.       </a:t>
            </a:r>
            <a:br>
              <a:rPr lang="en-US" sz="2000" dirty="0"/>
            </a:br>
            <a:r>
              <a:rPr lang="en-US" sz="2000" dirty="0"/>
              <a:t>- `DCR H`: Decrements H.       </a:t>
            </a:r>
            <a:br>
              <a:rPr lang="en-US" sz="2000" dirty="0"/>
            </a:br>
            <a:r>
              <a:rPr lang="en-US" sz="2000" dirty="0"/>
              <a:t>- `JNZ LOOP4`: Jumps to LOOP4 if H is not zero.     </a:t>
            </a:r>
            <a:br>
              <a:rPr lang="en-US" sz="2000" dirty="0"/>
            </a:br>
            <a:r>
              <a:rPr lang="en-US" sz="2000" dirty="0"/>
              <a:t>- `LOOP3`: This is a label that is reached if H became zero.     </a:t>
            </a:r>
            <a:br>
              <a:rPr lang="en-US" sz="2000" dirty="0"/>
            </a:br>
            <a:r>
              <a:rPr lang="en-US" sz="2000" dirty="0"/>
              <a:t>- `MVI H, 85`: Sets H to 85.     </a:t>
            </a:r>
            <a:br>
              <a:rPr lang="en-US" sz="2000" dirty="0"/>
            </a:br>
            <a:r>
              <a:rPr lang="en-US" sz="2000" dirty="0"/>
              <a:t>- `MVI D, 86`: Sets D to 86.     </a:t>
            </a:r>
            <a:br>
              <a:rPr lang="en-US" sz="2000" dirty="0"/>
            </a:br>
            <a:r>
              <a:rPr lang="en-US" sz="2000" dirty="0"/>
              <a:t>- `RET`: Returns from the subroutine.</a:t>
            </a:r>
          </a:p>
        </p:txBody>
      </p:sp>
    </p:spTree>
    <p:extLst>
      <p:ext uri="{BB962C8B-B14F-4D97-AF65-F5344CB8AC3E}">
        <p14:creationId xmlns:p14="http://schemas.microsoft.com/office/powerpoint/2010/main" val="1581250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90C41-063B-46DB-ACFC-B386099BC0B9}"/>
              </a:ext>
            </a:extLst>
          </p:cNvPr>
          <p:cNvSpPr>
            <a:spLocks noGrp="1"/>
          </p:cNvSpPr>
          <p:nvPr>
            <p:ph type="title"/>
          </p:nvPr>
        </p:nvSpPr>
        <p:spPr>
          <a:xfrm>
            <a:off x="0" y="14880"/>
            <a:ext cx="12192000" cy="6843119"/>
          </a:xfrm>
        </p:spPr>
        <p:txBody>
          <a:bodyPr>
            <a:normAutofit/>
          </a:bodyPr>
          <a:lstStyle/>
          <a:p>
            <a:r>
              <a:rPr lang="en-US" sz="2800" dirty="0"/>
              <a:t>7.</a:t>
            </a:r>
            <a:r>
              <a:rPr lang="en-US" sz="2000" dirty="0"/>
              <a:t> Subroutine STORE:   </a:t>
            </a:r>
            <a:br>
              <a:rPr lang="en-US" sz="2000" dirty="0"/>
            </a:br>
            <a:r>
              <a:rPr lang="en-US" sz="2000" dirty="0"/>
              <a:t>- This subroutine does the following:     </a:t>
            </a:r>
            <a:br>
              <a:rPr lang="en-US" sz="2000" dirty="0"/>
            </a:br>
            <a:br>
              <a:rPr lang="en-US" sz="2000" dirty="0"/>
            </a:br>
            <a:r>
              <a:rPr lang="en-US" sz="2000" dirty="0"/>
              <a:t>- `MVI B, 87`: Sets B to 87.    </a:t>
            </a:r>
            <a:br>
              <a:rPr lang="en-US" sz="2000" dirty="0"/>
            </a:br>
            <a:r>
              <a:rPr lang="en-US" sz="2000" dirty="0"/>
              <a:t> - `STAX B`: Stores A in the memory location pointed by BC.     </a:t>
            </a:r>
            <a:br>
              <a:rPr lang="en-US" sz="2000" dirty="0"/>
            </a:br>
            <a:r>
              <a:rPr lang="en-US" sz="2000" dirty="0"/>
              <a:t>- `INR C`: Increments C.     </a:t>
            </a:r>
            <a:br>
              <a:rPr lang="en-US" sz="2000" dirty="0"/>
            </a:br>
            <a:r>
              <a:rPr lang="en-US" sz="2000" dirty="0"/>
              <a:t>- `RET`: Returns from the subroutine.</a:t>
            </a:r>
            <a:br>
              <a:rPr lang="en-US" sz="2000" dirty="0"/>
            </a:br>
            <a:br>
              <a:rPr lang="en-US" sz="2000" dirty="0"/>
            </a:br>
            <a:br>
              <a:rPr lang="en-US" sz="2000" dirty="0"/>
            </a:br>
            <a:r>
              <a:rPr lang="en-US" sz="2000" dirty="0"/>
              <a:t>This code is designed to multiply two matrices and store the result in a different memory location. It uses a few subroutines (`MUL` and `STORE`) for modularity and  scalability.</a:t>
            </a:r>
          </a:p>
        </p:txBody>
      </p:sp>
    </p:spTree>
    <p:extLst>
      <p:ext uri="{BB962C8B-B14F-4D97-AF65-F5344CB8AC3E}">
        <p14:creationId xmlns:p14="http://schemas.microsoft.com/office/powerpoint/2010/main" val="4001439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2864-528B-47FB-BDA7-D86D869AE019}"/>
              </a:ext>
            </a:extLst>
          </p:cNvPr>
          <p:cNvSpPr>
            <a:spLocks noGrp="1"/>
          </p:cNvSpPr>
          <p:nvPr>
            <p:ph type="title"/>
          </p:nvPr>
        </p:nvSpPr>
        <p:spPr>
          <a:xfrm>
            <a:off x="14880" y="0"/>
            <a:ext cx="12177119" cy="6858000"/>
          </a:xfrm>
        </p:spPr>
        <p:txBody>
          <a:bodyPr>
            <a:normAutofit/>
          </a:bodyPr>
          <a:lstStyle/>
          <a:p>
            <a:r>
              <a:rPr lang="en-US" sz="2800" dirty="0"/>
              <a:t>    ~ </a:t>
            </a:r>
            <a:r>
              <a:rPr lang="en-US" sz="2800" dirty="0" err="1"/>
              <a:t>FlowCharts</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dirty="0"/>
              <a:t> Figure 1: Multiplication of 2 numbers                     Figure 2: </a:t>
            </a:r>
            <a:r>
              <a:rPr lang="en-US" sz="2000" dirty="0" err="1"/>
              <a:t>Mutliplying</a:t>
            </a:r>
            <a:r>
              <a:rPr lang="en-US" sz="2000" dirty="0"/>
              <a:t> row  with column </a:t>
            </a:r>
          </a:p>
        </p:txBody>
      </p:sp>
      <p:pic>
        <p:nvPicPr>
          <p:cNvPr id="4" name="Picture 3">
            <a:extLst>
              <a:ext uri="{FF2B5EF4-FFF2-40B4-BE49-F238E27FC236}">
                <a16:creationId xmlns:a16="http://schemas.microsoft.com/office/drawing/2014/main" id="{AF14F118-3637-44F2-8D43-398201DDCEE6}"/>
              </a:ext>
            </a:extLst>
          </p:cNvPr>
          <p:cNvPicPr>
            <a:picLocks noChangeAspect="1"/>
          </p:cNvPicPr>
          <p:nvPr/>
        </p:nvPicPr>
        <p:blipFill rotWithShape="1">
          <a:blip r:embed="rId2"/>
          <a:srcRect t="5739"/>
          <a:stretch/>
        </p:blipFill>
        <p:spPr>
          <a:xfrm>
            <a:off x="14880" y="484094"/>
            <a:ext cx="11252206" cy="5889812"/>
          </a:xfrm>
          <a:prstGeom prst="rect">
            <a:avLst/>
          </a:prstGeom>
        </p:spPr>
      </p:pic>
    </p:spTree>
    <p:extLst>
      <p:ext uri="{BB962C8B-B14F-4D97-AF65-F5344CB8AC3E}">
        <p14:creationId xmlns:p14="http://schemas.microsoft.com/office/powerpoint/2010/main" val="2909634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E583-57D9-4EEE-9867-AF2B40B8C74C}"/>
              </a:ext>
            </a:extLst>
          </p:cNvPr>
          <p:cNvSpPr>
            <a:spLocks noGrp="1"/>
          </p:cNvSpPr>
          <p:nvPr>
            <p:ph type="title"/>
          </p:nvPr>
        </p:nvSpPr>
        <p:spPr>
          <a:xfrm>
            <a:off x="0" y="5916"/>
            <a:ext cx="12192000" cy="6852083"/>
          </a:xfrm>
        </p:spPr>
        <p:txBody>
          <a:bodyPr>
            <a:normAutofit/>
          </a:bodyPr>
          <a:lstStyle/>
          <a:p>
            <a:r>
              <a:rPr lang="en-US" sz="2800" dirty="0"/>
              <a:t>~ </a:t>
            </a:r>
            <a:r>
              <a:rPr lang="en-US" sz="2800" dirty="0" err="1"/>
              <a:t>FlowCharts</a:t>
            </a:r>
            <a:r>
              <a:rPr lang="en-US" sz="2800" dirty="0"/>
              <a:t> </a:t>
            </a:r>
            <a:r>
              <a:rPr lang="en-US" sz="2800" dirty="0" err="1"/>
              <a:t>contd</a:t>
            </a:r>
            <a:r>
              <a:rPr lang="en-US" sz="2800" dirty="0"/>
              <a:t>….</a:t>
            </a:r>
            <a:br>
              <a:rPr lang="en-US" sz="2800" dirty="0"/>
            </a:br>
            <a:endParaRPr lang="en-US" sz="2800" dirty="0"/>
          </a:p>
        </p:txBody>
      </p:sp>
      <p:pic>
        <p:nvPicPr>
          <p:cNvPr id="4" name="Picture 3">
            <a:extLst>
              <a:ext uri="{FF2B5EF4-FFF2-40B4-BE49-F238E27FC236}">
                <a16:creationId xmlns:a16="http://schemas.microsoft.com/office/drawing/2014/main" id="{F0A1C900-8D6A-41F3-9D1B-6D89EB34D29C}"/>
              </a:ext>
            </a:extLst>
          </p:cNvPr>
          <p:cNvPicPr>
            <a:picLocks noChangeAspect="1"/>
          </p:cNvPicPr>
          <p:nvPr/>
        </p:nvPicPr>
        <p:blipFill>
          <a:blip r:embed="rId2"/>
          <a:stretch>
            <a:fillRect/>
          </a:stretch>
        </p:blipFill>
        <p:spPr>
          <a:xfrm>
            <a:off x="-1" y="466165"/>
            <a:ext cx="12191999" cy="6385919"/>
          </a:xfrm>
          <a:prstGeom prst="rect">
            <a:avLst/>
          </a:prstGeom>
        </p:spPr>
      </p:pic>
    </p:spTree>
    <p:extLst>
      <p:ext uri="{BB962C8B-B14F-4D97-AF65-F5344CB8AC3E}">
        <p14:creationId xmlns:p14="http://schemas.microsoft.com/office/powerpoint/2010/main" val="416112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66A8-FE82-4F5C-9587-BAB6AA8EFC50}"/>
              </a:ext>
            </a:extLst>
          </p:cNvPr>
          <p:cNvSpPr>
            <a:spLocks noGrp="1"/>
          </p:cNvSpPr>
          <p:nvPr>
            <p:ph type="title"/>
          </p:nvPr>
        </p:nvSpPr>
        <p:spPr>
          <a:xfrm>
            <a:off x="763051" y="74645"/>
            <a:ext cx="10666949" cy="6783355"/>
          </a:xfrm>
        </p:spPr>
        <p:txBody>
          <a:bodyPr>
            <a:normAutofit fontScale="90000"/>
          </a:bodyPr>
          <a:lstStyle/>
          <a:p>
            <a:r>
              <a:rPr lang="en-US" dirty="0"/>
              <a:t>Implementation</a:t>
            </a:r>
            <a:br>
              <a:rPr lang="en-US" dirty="0"/>
            </a:br>
            <a:r>
              <a:rPr lang="en-US" dirty="0"/>
              <a:t> </a:t>
            </a:r>
            <a:r>
              <a:rPr lang="en-US" sz="3600" dirty="0">
                <a:latin typeface="Times New Roman" panose="02020603050405020304" pitchFamily="18" charset="0"/>
                <a:cs typeface="Times New Roman" panose="02020603050405020304" pitchFamily="18" charset="0"/>
              </a:rPr>
              <a:t>1)code for multiplication(memory management of the code)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two numbers to be multiplied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are stored in 0002H and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0003H,</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;output is stored in 0004H</a:t>
            </a:r>
            <a:br>
              <a:rPr lang="en-US" sz="2800" dirty="0">
                <a:latin typeface="Times New Roman" panose="02020603050405020304" pitchFamily="18" charset="0"/>
                <a:cs typeface="Times New Roman" panose="02020603050405020304" pitchFamily="18" charset="0"/>
              </a:rPr>
            </a:br>
            <a:br>
              <a:rPr lang="en-US" dirty="0"/>
            </a:br>
            <a:r>
              <a:rPr lang="pt-BR" sz="2400" dirty="0">
                <a:latin typeface="Times New Roman" panose="02020603050405020304" pitchFamily="18" charset="0"/>
                <a:cs typeface="Times New Roman" panose="02020603050405020304" pitchFamily="18" charset="0"/>
              </a:rPr>
              <a:t>MOV B,0002H</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MOV C,0003H</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MVI A,00H</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LOOP: ADD B</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DCR C</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JNZ LOOP</a:t>
            </a:r>
            <a:br>
              <a:rPr lang="pt-BR" sz="2400" dirty="0">
                <a:latin typeface="Times New Roman" panose="02020603050405020304" pitchFamily="18" charset="0"/>
                <a:cs typeface="Times New Roman" panose="02020603050405020304" pitchFamily="18" charset="0"/>
              </a:rPr>
            </a:br>
            <a:r>
              <a:rPr lang="pt-BR" sz="2400" dirty="0">
                <a:latin typeface="Times New Roman" panose="02020603050405020304" pitchFamily="18" charset="0"/>
                <a:cs typeface="Times New Roman" panose="02020603050405020304" pitchFamily="18" charset="0"/>
              </a:rPr>
              <a:t>STA 0004H</a:t>
            </a:r>
            <a:br>
              <a:rPr lang="pt-BR"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710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AC270-512A-4D11-8180-B65025DC3376}"/>
              </a:ext>
            </a:extLst>
          </p:cNvPr>
          <p:cNvSpPr>
            <a:spLocks noGrp="1"/>
          </p:cNvSpPr>
          <p:nvPr>
            <p:ph type="title"/>
          </p:nvPr>
        </p:nvSpPr>
        <p:spPr>
          <a:xfrm>
            <a:off x="763051" y="1203649"/>
            <a:ext cx="10666949" cy="5038531"/>
          </a:xfrm>
        </p:spPr>
        <p:txBody>
          <a:bodyPr>
            <a:normAutofit fontScale="90000"/>
          </a:bodyPr>
          <a:lstStyle/>
          <a:p>
            <a:r>
              <a:rPr lang="en-US" sz="2000" dirty="0">
                <a:latin typeface="Times New Roman" panose="02020603050405020304" pitchFamily="18" charset="0"/>
                <a:cs typeface="Times New Roman" panose="02020603050405020304" pitchFamily="18" charset="0"/>
              </a:rPr>
              <a:t>; Load immediate value 8500H into register pair H</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LXI H, 8500H</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Push the content of memory address 8508H onto the stack</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PUSH 8508H</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Method: Store the content of register A into memory location pointed by HL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MOV M, A</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Exchange the content of DE and HL register pairs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XCHG</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Store the content of register B into memory location pointed by HL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MOV M, B</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Call a subroutine named "MUL"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CALL MUL</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Store the content of accumulator A into memory address 8516H</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STA 8516H</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D9E76D4-284B-44CE-B532-6B9FCDC17D88}"/>
              </a:ext>
            </a:extLst>
          </p:cNvPr>
          <p:cNvSpPr>
            <a:spLocks noGrp="1"/>
          </p:cNvSpPr>
          <p:nvPr>
            <p:ph type="body" idx="1"/>
          </p:nvPr>
        </p:nvSpPr>
        <p:spPr>
          <a:xfrm>
            <a:off x="693638" y="260884"/>
            <a:ext cx="10671048" cy="822960"/>
          </a:xfrm>
        </p:spPr>
        <p:txBody>
          <a:bodyPr/>
          <a:lstStyle/>
          <a:p>
            <a:r>
              <a:rPr lang="en-US" dirty="0"/>
              <a:t>Multiplying rows with  column </a:t>
            </a:r>
          </a:p>
        </p:txBody>
      </p:sp>
    </p:spTree>
    <p:extLst>
      <p:ext uri="{BB962C8B-B14F-4D97-AF65-F5344CB8AC3E}">
        <p14:creationId xmlns:p14="http://schemas.microsoft.com/office/powerpoint/2010/main" val="76617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4D3AB-498D-436C-B205-870281477369}"/>
              </a:ext>
            </a:extLst>
          </p:cNvPr>
          <p:cNvSpPr>
            <a:spLocks noGrp="1"/>
          </p:cNvSpPr>
          <p:nvPr>
            <p:ph type="title" idx="4294967295"/>
          </p:nvPr>
        </p:nvSpPr>
        <p:spPr>
          <a:xfrm>
            <a:off x="1525588" y="1417638"/>
            <a:ext cx="10666412" cy="4095750"/>
          </a:xfrm>
        </p:spPr>
        <p:txBody>
          <a:bodyPr>
            <a:normAutofit/>
          </a:bodyPr>
          <a:lstStyle/>
          <a:p>
            <a:r>
              <a:rPr lang="en-US" sz="1800" dirty="0">
                <a:latin typeface="Times New Roman" panose="02020603050405020304" pitchFamily="18" charset="0"/>
                <a:cs typeface="Times New Roman" panose="02020603050405020304" pitchFamily="18" charset="0"/>
              </a:rPr>
              <a:t>; Increment the value of register pair H (HL)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INX H</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Exchange the content of DE and HL register pairs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XCHG</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Increment the value of register pair H (HL)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INX H</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Unconditional jump to the label "Method"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JMP Method</a:t>
            </a:r>
            <a:br>
              <a:rPr lang="en-US" sz="1800" dirty="0">
                <a:latin typeface="Times New Roman" panose="02020603050405020304" pitchFamily="18" charset="0"/>
                <a:cs typeface="Times New Roman" panose="02020603050405020304" pitchFamily="18" charset="0"/>
              </a:rPr>
            </a:br>
            <a:endParaRPr lang="en-US" sz="1800" dirty="0"/>
          </a:p>
        </p:txBody>
      </p:sp>
    </p:spTree>
    <p:extLst>
      <p:ext uri="{BB962C8B-B14F-4D97-AF65-F5344CB8AC3E}">
        <p14:creationId xmlns:p14="http://schemas.microsoft.com/office/powerpoint/2010/main" val="4119298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394DB-2A45-4D69-9F30-B069650EF690}"/>
              </a:ext>
            </a:extLst>
          </p:cNvPr>
          <p:cNvSpPr>
            <a:spLocks noGrp="1"/>
          </p:cNvSpPr>
          <p:nvPr>
            <p:ph type="title"/>
          </p:nvPr>
        </p:nvSpPr>
        <p:spPr>
          <a:xfrm>
            <a:off x="145831" y="434340"/>
            <a:ext cx="10666949" cy="5989320"/>
          </a:xfrm>
        </p:spPr>
        <p:txBody>
          <a:bodyPr>
            <a:noAutofit/>
          </a:bodyPr>
          <a:lstStyle/>
          <a:p>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MVI C, 00             ; Initialize register C with 00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LXI H, 8500           ; Load HL with memory address 8500</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LOOP2:</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LXI D, 8600       ; Load DE with memory address 8600</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 Call subroutine MUL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CALL MUL</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MOV B, A          ; Move the content of A to B</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H             ; Increment HL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D             ; Increment DE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D             ; Increment DE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 Call subroutine MUL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CALL MUL</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ADD B             ; Add B to 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CALL STORE        ; Call subroutine STORE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DCX H             ; Decrement HL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DCX D             ; Decrement DE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 Call subroutine MUL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CALL MUL</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48EE961-39C3-4893-93A7-3E343C28BA66}"/>
              </a:ext>
            </a:extLst>
          </p:cNvPr>
          <p:cNvSpPr>
            <a:spLocks noGrp="1"/>
          </p:cNvSpPr>
          <p:nvPr>
            <p:ph type="body" idx="1"/>
          </p:nvPr>
        </p:nvSpPr>
        <p:spPr>
          <a:xfrm>
            <a:off x="763051" y="53340"/>
            <a:ext cx="10671048" cy="762000"/>
          </a:xfrm>
        </p:spPr>
        <p:txBody>
          <a:bodyPr/>
          <a:lstStyle/>
          <a:p>
            <a:r>
              <a:rPr lang="en-US" dirty="0"/>
              <a:t>Final code</a:t>
            </a:r>
          </a:p>
        </p:txBody>
      </p:sp>
    </p:spTree>
    <p:extLst>
      <p:ext uri="{BB962C8B-B14F-4D97-AF65-F5344CB8AC3E}">
        <p14:creationId xmlns:p14="http://schemas.microsoft.com/office/powerpoint/2010/main" val="322633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87A32-449F-4AFF-AE7D-FCC33BCE973E}"/>
              </a:ext>
            </a:extLst>
          </p:cNvPr>
          <p:cNvSpPr>
            <a:spLocks noGrp="1"/>
          </p:cNvSpPr>
          <p:nvPr>
            <p:ph type="title"/>
          </p:nvPr>
        </p:nvSpPr>
        <p:spPr>
          <a:xfrm>
            <a:off x="237271" y="-228600"/>
            <a:ext cx="10666949" cy="7086600"/>
          </a:xfrm>
        </p:spPr>
        <p:txBody>
          <a:bodyPr>
            <a:noAutofit/>
          </a:bodyPr>
          <a:lstStyle/>
          <a:p>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MOV B, A          ; Move the content of A to B</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H             ; Increment HL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D             ; Increment DE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D             ; Increment DE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ADD B             ; Add B to 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CALL STORE        ; Call subroutine STORE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MOV A, C          ; Move the content of C to 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CPI 04            ; Compare A with immediate value 04</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 Jump to LOOP1 if A is equal to 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JZ LOOP1</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INX H             ; Increment HL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JMP LOOP2         ; Jump to LOOP2</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LOOP1: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HLT                ; Halt the microprocessor</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MUL: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LDAX D             ; Load A from memory address pointed by DE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MOV D, A           ; Move A to 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MOV H, M           ; Move the content of memory address pointed by HL to 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DCR H              ; Decrement 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JZ LOOP3           ; Jump to LOOP3 if H is zero</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LOOP4: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ADD D              ; Add D to 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DCR H              ; Decrement 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JNZ LOOP4          ; Jump to LOOP4 if H is not zero</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lang="en-US" sz="1600" dirty="0"/>
          </a:p>
        </p:txBody>
      </p:sp>
    </p:spTree>
    <p:extLst>
      <p:ext uri="{BB962C8B-B14F-4D97-AF65-F5344CB8AC3E}">
        <p14:creationId xmlns:p14="http://schemas.microsoft.com/office/powerpoint/2010/main" val="282428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D336-0D43-430F-9045-52D5EFFDBC84}"/>
              </a:ext>
            </a:extLst>
          </p:cNvPr>
          <p:cNvSpPr>
            <a:spLocks noGrp="1"/>
          </p:cNvSpPr>
          <p:nvPr>
            <p:ph type="title"/>
          </p:nvPr>
        </p:nvSpPr>
        <p:spPr>
          <a:xfrm>
            <a:off x="763051" y="1447800"/>
            <a:ext cx="10666949" cy="4869180"/>
          </a:xfrm>
        </p:spPr>
        <p:txBody>
          <a:bodyPr>
            <a:normAutofit/>
          </a:bodyPr>
          <a:lstStyle/>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LOOP3:</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MVI H, 85          ; Move immediate value 85 to 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MVI D, 86          ; Move immediate value 86 to 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RET                ; Return from subroutine MUL</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STORE: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MVI B, 87          ; Move immediate value 87 to B</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STAX B             ; Store A in memory address pointed by BC</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INR C              ; Increment C</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RET                ; Return from subroutine STORE</a:t>
            </a:r>
          </a:p>
        </p:txBody>
      </p:sp>
    </p:spTree>
    <p:extLst>
      <p:ext uri="{BB962C8B-B14F-4D97-AF65-F5344CB8AC3E}">
        <p14:creationId xmlns:p14="http://schemas.microsoft.com/office/powerpoint/2010/main" val="2666201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D003-3938-4647-BFA6-B1132A096344}"/>
              </a:ext>
            </a:extLst>
          </p:cNvPr>
          <p:cNvSpPr>
            <a:spLocks noGrp="1"/>
          </p:cNvSpPr>
          <p:nvPr>
            <p:ph type="title"/>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113BF56-E41F-4507-950C-474A7D3384EA}"/>
              </a:ext>
            </a:extLst>
          </p:cNvPr>
          <p:cNvSpPr>
            <a:spLocks noGrp="1"/>
          </p:cNvSpPr>
          <p:nvPr>
            <p:ph type="body" idx="1"/>
          </p:nvPr>
        </p:nvSpPr>
        <p:spPr/>
        <p:txBody>
          <a:bodyPr/>
          <a:lstStyle/>
          <a:p>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3042E31-54EE-4A04-BD33-3B7211C86A8A}"/>
              </a:ext>
            </a:extLst>
          </p:cNvPr>
          <p:cNvPicPr>
            <a:picLocks noChangeAspect="1"/>
          </p:cNvPicPr>
          <p:nvPr/>
        </p:nvPicPr>
        <p:blipFill>
          <a:blip r:embed="rId2"/>
          <a:stretch>
            <a:fillRect/>
          </a:stretch>
        </p:blipFill>
        <p:spPr>
          <a:xfrm>
            <a:off x="268940" y="407408"/>
            <a:ext cx="11232777" cy="6043184"/>
          </a:xfrm>
          <a:prstGeom prst="rect">
            <a:avLst/>
          </a:prstGeom>
        </p:spPr>
      </p:pic>
      <p:sp>
        <p:nvSpPr>
          <p:cNvPr id="6" name="TextBox 5">
            <a:extLst>
              <a:ext uri="{FF2B5EF4-FFF2-40B4-BE49-F238E27FC236}">
                <a16:creationId xmlns:a16="http://schemas.microsoft.com/office/drawing/2014/main" id="{BCA15BCE-855E-4795-8C8D-51AF0F6FAB6A}"/>
              </a:ext>
            </a:extLst>
          </p:cNvPr>
          <p:cNvSpPr txBox="1"/>
          <p:nvPr/>
        </p:nvSpPr>
        <p:spPr>
          <a:xfrm flipH="1">
            <a:off x="1058731" y="0"/>
            <a:ext cx="86590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Visual representation of the code</a:t>
            </a:r>
          </a:p>
        </p:txBody>
      </p:sp>
    </p:spTree>
    <p:extLst>
      <p:ext uri="{BB962C8B-B14F-4D97-AF65-F5344CB8AC3E}">
        <p14:creationId xmlns:p14="http://schemas.microsoft.com/office/powerpoint/2010/main" val="120285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C1818D-E4A3-4F99-89AA-A9D644E51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141" y="2119524"/>
            <a:ext cx="10085293" cy="4160881"/>
          </a:xfrm>
          <a:prstGeom prst="rect">
            <a:avLst/>
          </a:prstGeom>
        </p:spPr>
      </p:pic>
      <p:sp>
        <p:nvSpPr>
          <p:cNvPr id="4" name="TextBox 3">
            <a:extLst>
              <a:ext uri="{FF2B5EF4-FFF2-40B4-BE49-F238E27FC236}">
                <a16:creationId xmlns:a16="http://schemas.microsoft.com/office/drawing/2014/main" id="{DACB1F1B-4F60-4070-AD5F-282A5FD2467E}"/>
              </a:ext>
            </a:extLst>
          </p:cNvPr>
          <p:cNvSpPr txBox="1"/>
          <p:nvPr/>
        </p:nvSpPr>
        <p:spPr>
          <a:xfrm>
            <a:off x="1595718" y="528918"/>
            <a:ext cx="7351058" cy="1477328"/>
          </a:xfrm>
          <a:prstGeom prst="rect">
            <a:avLst/>
          </a:prstGeom>
          <a:noFill/>
        </p:spPr>
        <p:txBody>
          <a:bodyPr wrap="square" rtlCol="0">
            <a:spAutoFit/>
          </a:bodyPr>
          <a:lstStyle/>
          <a:p>
            <a:r>
              <a:rPr lang="en-US" dirty="0"/>
              <a:t>RESULTS ON VARIOUS COMPILER</a:t>
            </a:r>
          </a:p>
          <a:p>
            <a:endParaRPr lang="en-US" dirty="0"/>
          </a:p>
          <a:p>
            <a:endParaRPr lang="en-US" dirty="0"/>
          </a:p>
          <a:p>
            <a:endParaRPr lang="en-US" dirty="0"/>
          </a:p>
          <a:p>
            <a:r>
              <a:rPr lang="en-US" dirty="0"/>
              <a:t>1)EMU 8086</a:t>
            </a:r>
          </a:p>
        </p:txBody>
      </p:sp>
    </p:spTree>
    <p:extLst>
      <p:ext uri="{BB962C8B-B14F-4D97-AF65-F5344CB8AC3E}">
        <p14:creationId xmlns:p14="http://schemas.microsoft.com/office/powerpoint/2010/main" val="1484248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89C9A-8D0D-404B-ACE6-78A64045D12D}"/>
              </a:ext>
            </a:extLst>
          </p:cNvPr>
          <p:cNvSpPr txBox="1"/>
          <p:nvPr/>
        </p:nvSpPr>
        <p:spPr>
          <a:xfrm>
            <a:off x="2079812" y="349624"/>
            <a:ext cx="5235388" cy="369332"/>
          </a:xfrm>
          <a:prstGeom prst="rect">
            <a:avLst/>
          </a:prstGeom>
          <a:noFill/>
        </p:spPr>
        <p:txBody>
          <a:bodyPr wrap="square" rtlCol="0">
            <a:spAutoFit/>
          </a:bodyPr>
          <a:lstStyle/>
          <a:p>
            <a:r>
              <a:rPr lang="en-US" dirty="0"/>
              <a:t>2)General Assembly Compiler</a:t>
            </a:r>
          </a:p>
        </p:txBody>
      </p:sp>
      <p:pic>
        <p:nvPicPr>
          <p:cNvPr id="4" name="Picture 3">
            <a:extLst>
              <a:ext uri="{FF2B5EF4-FFF2-40B4-BE49-F238E27FC236}">
                <a16:creationId xmlns:a16="http://schemas.microsoft.com/office/drawing/2014/main" id="{2B1B6EDC-A8F6-4B20-B37B-1F2077B12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88" y="1135181"/>
            <a:ext cx="9967824" cy="4587638"/>
          </a:xfrm>
          <a:prstGeom prst="rect">
            <a:avLst/>
          </a:prstGeom>
        </p:spPr>
      </p:pic>
    </p:spTree>
    <p:extLst>
      <p:ext uri="{BB962C8B-B14F-4D97-AF65-F5344CB8AC3E}">
        <p14:creationId xmlns:p14="http://schemas.microsoft.com/office/powerpoint/2010/main" val="1155152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725F9-550C-44AA-AA7A-1EA02BF9B282}"/>
              </a:ext>
            </a:extLst>
          </p:cNvPr>
          <p:cNvSpPr>
            <a:spLocks noGrp="1"/>
          </p:cNvSpPr>
          <p:nvPr>
            <p:ph type="title"/>
          </p:nvPr>
        </p:nvSpPr>
        <p:spPr>
          <a:xfrm>
            <a:off x="628580" y="1325118"/>
            <a:ext cx="10666949" cy="4207764"/>
          </a:xfrm>
        </p:spPr>
        <p:txBody>
          <a:bodyPr>
            <a:noAutofit/>
          </a:bodyPr>
          <a:lstStyle/>
          <a:p>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This project aims to implement an efficient matrix multiplication algorithm using the 8085 assembly language, showcasing the capabilities of the 8085 microprocessor in performing complex mathematical tasks. The goal is to optimize the assembly code for memory usage and performance while accommodating matrices of varying dimensions. This project also demonstrates the practical application of assembly language programming in scientific computing and other fields. Ultimately, the project seeks to highlight the microprocessor's potential for advanced calculations and underscore its significance in historical and contemporary computing contexts.</a:t>
            </a:r>
          </a:p>
        </p:txBody>
      </p:sp>
      <p:sp>
        <p:nvSpPr>
          <p:cNvPr id="3" name="Text Placeholder 2">
            <a:extLst>
              <a:ext uri="{FF2B5EF4-FFF2-40B4-BE49-F238E27FC236}">
                <a16:creationId xmlns:a16="http://schemas.microsoft.com/office/drawing/2014/main" id="{13E92E67-EA4B-4F71-835C-FDD65E1BBFC5}"/>
              </a:ext>
            </a:extLst>
          </p:cNvPr>
          <p:cNvSpPr>
            <a:spLocks noGrp="1"/>
          </p:cNvSpPr>
          <p:nvPr>
            <p:ph type="body" idx="1"/>
          </p:nvPr>
        </p:nvSpPr>
        <p:spPr>
          <a:xfrm>
            <a:off x="1180293" y="116900"/>
            <a:ext cx="10671048" cy="822960"/>
          </a:xfrm>
        </p:spPr>
        <p:txBody>
          <a:bodyPr>
            <a:normAutofit/>
          </a:bodyPr>
          <a:lstStyle/>
          <a:p>
            <a:r>
              <a:rPr lang="en-US" sz="4000" b="1" dirty="0"/>
              <a:t>           Objective of the project</a:t>
            </a:r>
          </a:p>
        </p:txBody>
      </p:sp>
    </p:spTree>
    <p:extLst>
      <p:ext uri="{BB962C8B-B14F-4D97-AF65-F5344CB8AC3E}">
        <p14:creationId xmlns:p14="http://schemas.microsoft.com/office/powerpoint/2010/main" val="1544922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5A39F-6FA6-491C-8B90-720A19E9D1FA}"/>
              </a:ext>
            </a:extLst>
          </p:cNvPr>
          <p:cNvSpPr>
            <a:spLocks noGrp="1"/>
          </p:cNvSpPr>
          <p:nvPr>
            <p:ph type="title"/>
          </p:nvPr>
        </p:nvSpPr>
        <p:spPr>
          <a:xfrm>
            <a:off x="516357" y="1250301"/>
            <a:ext cx="10913644" cy="5225143"/>
          </a:xfrm>
        </p:spPr>
        <p:txBody>
          <a:bodyPr>
            <a:normAutofit fontScale="90000"/>
          </a:bodyPr>
          <a:lstStyle/>
          <a:p>
            <a:br>
              <a:rPr lang="en-US" sz="3200" i="0" dirty="0">
                <a:latin typeface="Times New Roman" panose="02020603050405020304" pitchFamily="18" charset="0"/>
                <a:cs typeface="Times New Roman" panose="02020603050405020304" pitchFamily="18" charset="0"/>
              </a:rPr>
            </a:br>
            <a:r>
              <a:rPr lang="en-US" sz="3200" i="0" dirty="0">
                <a:latin typeface="Times New Roman" panose="02020603050405020304" pitchFamily="18" charset="0"/>
                <a:cs typeface="Times New Roman" panose="02020603050405020304" pitchFamily="18" charset="0"/>
              </a:rPr>
              <a:t>•</a:t>
            </a:r>
            <a:r>
              <a:rPr lang="en-US" sz="1000" b="0" i="0" dirty="0">
                <a:solidFill>
                  <a:srgbClr val="E2EEFF"/>
                </a:solidFill>
                <a:effectLst/>
                <a:latin typeface="Google Sans"/>
              </a:rPr>
              <a:t> </a:t>
            </a:r>
            <a:r>
              <a:rPr lang="en-US" sz="3200" i="0" dirty="0">
                <a:latin typeface="Times New Roman" panose="02020603050405020304" pitchFamily="18" charset="0"/>
                <a:cs typeface="Times New Roman" panose="02020603050405020304" pitchFamily="18" charset="0"/>
              </a:rPr>
              <a:t>Matrix multiplication is used in graphics and computer animation for transforming 2D and 3D objects and creating realistic animations.</a:t>
            </a:r>
            <a:br>
              <a:rPr lang="en-US" sz="3200" i="0" dirty="0">
                <a:latin typeface="Times New Roman" panose="02020603050405020304" pitchFamily="18" charset="0"/>
                <a:cs typeface="Times New Roman" panose="02020603050405020304" pitchFamily="18" charset="0"/>
              </a:rPr>
            </a:br>
            <a:r>
              <a:rPr lang="en-US" sz="3200" i="0" dirty="0">
                <a:latin typeface="Times New Roman" panose="02020603050405020304" pitchFamily="18" charset="0"/>
                <a:cs typeface="Times New Roman" panose="02020603050405020304" pitchFamily="18" charset="0"/>
              </a:rPr>
              <a:t>• It finds application in engineering and physics for solving linear equations and analyzing electrical circuits.</a:t>
            </a:r>
            <a:br>
              <a:rPr lang="en-US" sz="3200" i="0" dirty="0">
                <a:latin typeface="Times New Roman" panose="02020603050405020304" pitchFamily="18" charset="0"/>
                <a:cs typeface="Times New Roman" panose="02020603050405020304" pitchFamily="18" charset="0"/>
              </a:rPr>
            </a:br>
            <a:r>
              <a:rPr lang="en-US" sz="3200" i="0" dirty="0">
                <a:latin typeface="Times New Roman" panose="02020603050405020304" pitchFamily="18" charset="0"/>
                <a:cs typeface="Times New Roman" panose="02020603050405020304" pitchFamily="18" charset="0"/>
              </a:rPr>
              <a:t>• Economics and finance utilize matrix multiplication in Markov chain modeling and portfolio optimization.</a:t>
            </a:r>
            <a:br>
              <a:rPr lang="en-US" sz="3200" i="0" dirty="0">
                <a:latin typeface="Times New Roman" panose="02020603050405020304" pitchFamily="18" charset="0"/>
                <a:cs typeface="Times New Roman" panose="02020603050405020304" pitchFamily="18" charset="0"/>
              </a:rPr>
            </a:br>
            <a:r>
              <a:rPr lang="en-US" sz="3200" i="0">
                <a:latin typeface="Times New Roman" panose="02020603050405020304" pitchFamily="18" charset="0"/>
                <a:cs typeface="Times New Roman" panose="02020603050405020304" pitchFamily="18" charset="0"/>
              </a:rPr>
              <a:t>• In </a:t>
            </a:r>
            <a:r>
              <a:rPr lang="en-US" sz="3200" i="0" dirty="0">
                <a:latin typeface="Times New Roman" panose="02020603050405020304" pitchFamily="18" charset="0"/>
                <a:cs typeface="Times New Roman" panose="02020603050405020304" pitchFamily="18" charset="0"/>
              </a:rPr>
              <a:t>machine learning and data analysis, it underpins neural networks and principal component analysis (PCA).</a:t>
            </a:r>
            <a:br>
              <a:rPr lang="en-US" sz="3200" i="0" dirty="0">
                <a:latin typeface="Times New Roman" panose="02020603050405020304" pitchFamily="18" charset="0"/>
                <a:cs typeface="Times New Roman" panose="02020603050405020304" pitchFamily="18" charset="0"/>
              </a:rPr>
            </a:br>
            <a:br>
              <a:rPr lang="en-US" sz="1800" i="0" dirty="0">
                <a:latin typeface="Times New Roman" panose="02020603050405020304" pitchFamily="18" charset="0"/>
                <a:cs typeface="Times New Roman" panose="02020603050405020304" pitchFamily="18" charset="0"/>
              </a:rPr>
            </a:br>
            <a:br>
              <a:rPr lang="en-US" sz="1800" i="0" dirty="0">
                <a:latin typeface="Times New Roman" panose="02020603050405020304" pitchFamily="18" charset="0"/>
                <a:cs typeface="Times New Roman" panose="02020603050405020304" pitchFamily="18" charset="0"/>
              </a:rPr>
            </a:br>
            <a:br>
              <a:rPr lang="en-US" sz="1800" i="0" dirty="0">
                <a:latin typeface="Times New Roman" panose="02020603050405020304" pitchFamily="18" charset="0"/>
                <a:cs typeface="Times New Roman" panose="02020603050405020304" pitchFamily="18" charset="0"/>
              </a:rPr>
            </a:br>
            <a:br>
              <a:rPr lang="en-US" sz="1800" i="0" dirty="0">
                <a:latin typeface="Times New Roman" panose="02020603050405020304" pitchFamily="18" charset="0"/>
                <a:cs typeface="Times New Roman" panose="02020603050405020304" pitchFamily="18" charset="0"/>
              </a:rPr>
            </a:br>
            <a:br>
              <a:rPr lang="en-US" sz="2000" i="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A747123-1187-4C3F-8E7B-704E3DFDAAC0}"/>
              </a:ext>
            </a:extLst>
          </p:cNvPr>
          <p:cNvSpPr>
            <a:spLocks noGrp="1"/>
          </p:cNvSpPr>
          <p:nvPr>
            <p:ph type="body" idx="1"/>
          </p:nvPr>
        </p:nvSpPr>
        <p:spPr>
          <a:xfrm>
            <a:off x="1004046" y="203273"/>
            <a:ext cx="10613663" cy="868680"/>
          </a:xfrm>
        </p:spPr>
        <p:txBody>
          <a:bodyPr>
            <a:normAutofit/>
          </a:bodyPr>
          <a:lstStyle/>
          <a:p>
            <a:r>
              <a:rPr lang="en-US" sz="4000" b="1" dirty="0"/>
              <a:t>Application of the project</a:t>
            </a:r>
          </a:p>
        </p:txBody>
      </p:sp>
    </p:spTree>
    <p:extLst>
      <p:ext uri="{BB962C8B-B14F-4D97-AF65-F5344CB8AC3E}">
        <p14:creationId xmlns:p14="http://schemas.microsoft.com/office/powerpoint/2010/main" val="4270885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12D4-341E-473C-ACBD-6A1829D3F9E9}"/>
              </a:ext>
            </a:extLst>
          </p:cNvPr>
          <p:cNvSpPr>
            <a:spLocks noGrp="1"/>
          </p:cNvSpPr>
          <p:nvPr>
            <p:ph type="title"/>
          </p:nvPr>
        </p:nvSpPr>
        <p:spPr>
          <a:xfrm>
            <a:off x="-20978" y="0"/>
            <a:ext cx="12212977" cy="6858000"/>
          </a:xfrm>
        </p:spPr>
        <p:txBody>
          <a:bodyPr>
            <a:normAutofit fontScale="90000"/>
          </a:bodyPr>
          <a:lstStyle/>
          <a:p>
            <a:pPr marL="0" marR="0">
              <a:lnSpc>
                <a:spcPct val="107000"/>
              </a:lnSpc>
              <a:spcBef>
                <a:spcPts val="0"/>
              </a:spcBef>
              <a:spcAft>
                <a:spcPts val="800"/>
              </a:spcAft>
            </a:pPr>
            <a:r>
              <a:rPr lang="en-US" sz="4400" b="1" dirty="0">
                <a:latin typeface="Copperplate Gothic Bold" panose="020E0705020206020404" pitchFamily="34" charset="0"/>
              </a:rPr>
              <a:t>                                 </a:t>
            </a:r>
            <a:r>
              <a:rPr lang="en-US" sz="4400" b="1" dirty="0" err="1">
                <a:latin typeface="Copperplate Gothic Bold" panose="020E0705020206020404" pitchFamily="34" charset="0"/>
              </a:rPr>
              <a:t>Timeplan</a:t>
            </a:r>
            <a:br>
              <a:rPr lang="en-US" sz="4400" b="1" dirty="0">
                <a:latin typeface="Copperplate Gothic Bold" panose="020E0705020206020404" pitchFamily="34" charset="0"/>
              </a:rPr>
            </a:br>
            <a:r>
              <a:rPr lang="en-US" sz="4400" b="1" dirty="0">
                <a:latin typeface="Copperplate Gothic Bold" panose="020E0705020206020404" pitchFamily="34" charset="0"/>
              </a:rPr>
              <a:t> </a:t>
            </a:r>
            <a:r>
              <a:rPr lang="en-US"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10-Week Project Summary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Week 1-2: Planning &amp; Research</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Conducted market research.</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Drafted preliminary blueprints.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Excluded development, marketing, and post-launch activities.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Week 3-4: Algorithm Implementation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Developed 2x2 matrix multiplication in 8085 assembly.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Laid groundwork for future enhancements.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Week 5-6: Microprocessor Adaptation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Modified algorithm for 8085 constraints.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Addressed memory limitations and register efficiency.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Week 7-8: Interface Development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Crafted UIs for library admin and patrons.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Incorporated search, dashboard, and reservation tools.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Week 9-10: Testing &amp; Optimization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Conducted comprehensive tests.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Identified and rectified bottlenecks.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Optimized for 8085 capabilities.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Conclusion: Over 10 weeks, the team transitioned from foundational research to creating an efficient matrix multiplication </a:t>
            </a:r>
            <a:br>
              <a:rPr lang="en-US" sz="18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br>
            <a:r>
              <a:rPr lang="en-US" sz="18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algorithm tailored for the 8085 microprocessor, along with user-centric interfaces for library operations.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latin typeface="Copperplate Gothic Bold" panose="020E0705020206020404" pitchFamily="34" charset="0"/>
              </a:rPr>
              <a:t> </a:t>
            </a:r>
            <a:br>
              <a:rPr lang="en-US" sz="1800" b="1" dirty="0">
                <a:latin typeface="Copperplate Gothic Bold" panose="020E0705020206020404" pitchFamily="34" charset="0"/>
              </a:rPr>
            </a:br>
            <a:endParaRPr lang="en-US" sz="1800" i="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926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2D2D0-61D1-4623-B46B-90703CA07F28}"/>
              </a:ext>
            </a:extLst>
          </p:cNvPr>
          <p:cNvSpPr>
            <a:spLocks noGrp="1"/>
          </p:cNvSpPr>
          <p:nvPr>
            <p:ph type="title"/>
          </p:nvPr>
        </p:nvSpPr>
        <p:spPr>
          <a:xfrm>
            <a:off x="763051" y="2414016"/>
            <a:ext cx="10666949" cy="4443984"/>
          </a:xfrm>
        </p:spPr>
        <p:txBody>
          <a:bodyPr>
            <a:normAutofit/>
          </a:bodyPr>
          <a:lstStyle/>
          <a:p>
            <a:r>
              <a:rPr lang="en-US" sz="3600" dirty="0">
                <a:latin typeface="Times New Roman" panose="02020603050405020304" pitchFamily="18" charset="0"/>
                <a:cs typeface="Times New Roman" panose="02020603050405020304" pitchFamily="18" charset="0"/>
              </a:rPr>
              <a:t>1)</a:t>
            </a:r>
            <a:r>
              <a:rPr lang="fr-FR" sz="36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Microprocessor Architecture, Programming, and Applications with the 8085 - S </a:t>
            </a:r>
            <a:r>
              <a:rPr lang="en-US" sz="3600" dirty="0" err="1">
                <a:latin typeface="Times New Roman" panose="02020603050405020304" pitchFamily="18" charset="0"/>
                <a:cs typeface="Times New Roman" panose="02020603050405020304" pitchFamily="18" charset="0"/>
              </a:rPr>
              <a:t>Gaonka</a:t>
            </a:r>
            <a:br>
              <a:rPr lang="fr-FR"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2) http://google.com</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3)</a:t>
            </a:r>
            <a:r>
              <a:rPr lang="fr-FR" sz="3600" dirty="0">
                <a:latin typeface="Times New Roman" panose="02020603050405020304" pitchFamily="18" charset="0"/>
                <a:cs typeface="Times New Roman" panose="02020603050405020304" pitchFamily="18" charset="0"/>
              </a:rPr>
              <a:t>http://en.wikipedia.org/wiki/Matrix multiplication</a:t>
            </a:r>
            <a:br>
              <a:rPr lang="en-US" dirty="0"/>
            </a:br>
            <a:endParaRPr lang="en-US" dirty="0"/>
          </a:p>
        </p:txBody>
      </p:sp>
      <p:sp>
        <p:nvSpPr>
          <p:cNvPr id="3" name="Text Placeholder 2">
            <a:extLst>
              <a:ext uri="{FF2B5EF4-FFF2-40B4-BE49-F238E27FC236}">
                <a16:creationId xmlns:a16="http://schemas.microsoft.com/office/drawing/2014/main" id="{1346ECA7-E65A-4194-B61D-923442560592}"/>
              </a:ext>
            </a:extLst>
          </p:cNvPr>
          <p:cNvSpPr>
            <a:spLocks noGrp="1"/>
          </p:cNvSpPr>
          <p:nvPr>
            <p:ph type="body" idx="1"/>
          </p:nvPr>
        </p:nvSpPr>
        <p:spPr/>
        <p:txBody>
          <a:bodyPr/>
          <a:lstStyle/>
          <a:p>
            <a:r>
              <a:rPr lang="en-US" dirty="0"/>
              <a:t>References</a:t>
            </a:r>
          </a:p>
        </p:txBody>
      </p:sp>
    </p:spTree>
    <p:extLst>
      <p:ext uri="{BB962C8B-B14F-4D97-AF65-F5344CB8AC3E}">
        <p14:creationId xmlns:p14="http://schemas.microsoft.com/office/powerpoint/2010/main" val="3225402914"/>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docProps/app.xml><?xml version="1.0" encoding="utf-8"?>
<Properties xmlns="http://schemas.openxmlformats.org/officeDocument/2006/extended-properties" xmlns:vt="http://schemas.openxmlformats.org/officeDocument/2006/docPropsVTypes">
  <Template>TM04033937[[fn=Vapor Trail]]</Template>
  <TotalTime>209</TotalTime>
  <Words>2403</Words>
  <Application>Microsoft Office PowerPoint</Application>
  <PresentationFormat>Widescreen</PresentationFormat>
  <Paragraphs>40</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Avenir Next LT Pro</vt:lpstr>
      <vt:lpstr>Calibri</vt:lpstr>
      <vt:lpstr>Copperplate Gothic Bold</vt:lpstr>
      <vt:lpstr>Google Sans</vt:lpstr>
      <vt:lpstr>Sitka Banner</vt:lpstr>
      <vt:lpstr>Söhne</vt:lpstr>
      <vt:lpstr>Times New Roman</vt:lpstr>
      <vt:lpstr>HeadlinesVTI</vt:lpstr>
      <vt:lpstr>Implement matrix multiplication using 8085 assembly language.</vt:lpstr>
      <vt:lpstr>Abstract of the project  Implementation of matrix multiplication using the 8085 assembly language. Microprocessor Architecture: Utilizing the classic 8085 microprocessor architecture. Algorithm Breakdown: Breaking down the matrix multiplication algorithm into key steps. Instruction Set Usage: Leveraging the 8085's arithmetic and logical instructions for efficient element-wise multiplication and accumulation of products. Matrix Handling: Designing assembly code capable of handling matrices with varying dimensions. Optimization Focus: Emphasizing code optimization and minimizing memory usage within the constraints of the 8085. Educational Resource: Serving as a valuable resource for students studying assembly language programming and computer architecture. Insights Offered: Providing insights into algorithm implementation on a historic microprocessor architecture. Capabilities Showcase: Demonstrating the capabilities of the 8085 microprocessor through practical application.  </vt:lpstr>
      <vt:lpstr>                                  ACKNOWLEDGEMENT  We express our heartfelt thanks to our honorable Vice Chancellor Dr. C. MUTHAMIZHCHELVAN, for beingthe beacon in all our endeavors. We would like to express my warmth of gratitude to our Registrar Dr. S.Ponnusamy, for his encouragement.We express our profound gratitude to our Dean (College of Engineering and Technology) Dr. T. Gopal, forbringing out novelty in all executions. We would like to express my heartfelt thanks to Chairperson, School ofComputing Dr. Revathi Venkataraman, for imparting confidence to complete my course project.We are highly thankful to our Course project Faculty Dr. R. Brindha, Assistant Professor, Department ofComputing Technologies, for her assistance, timely suggestion and guidance throughout the duration of thiscourse project.We extend my gratitude to our HoD, Dr. Pushpalatha M, Professor &amp;amp; Head, Department of ComputingTechnologies and my Departmental colleagues for their Support.Finally, we thank our parents and friends near and dear ones who directly and indirectly contributed to thesuccessful completion of our project. Above all, I thank the almighty for showering his blessings on me tocomplete my Course project.</vt:lpstr>
      <vt:lpstr>PowerPoint Presentation</vt:lpstr>
      <vt:lpstr>PowerPoint Presentation</vt:lpstr>
      <vt:lpstr>Problem Statement   Microprocessor Architecture: Utilizing the seminal 8085 microprocessor architecture. Optimization Challenge: Creating optimized assembly code for efficient execution of the matrix multiplication algorithm within 8085 constraints. Algorithmic Accommodation: Adapting the assembly code to handle varying matrix dimensions. Efficiency Focus: Ensuring efficient performance and minimal memory usage within the limitations of the 8085 architecture. Showcasing Viability: Demonstrating the viability of matrix multiplication using 8085 assembly language. Educational Goals: Providing insights into low-level programming, algorithm implementation, and microprocessor capabilities. .</vt:lpstr>
      <vt:lpstr>Algorithm 1. Initialization:   - `MVI C, 00`: Initializes register C with the value 00 (presumably for loop counter or some other purpose).   - `LXI H, 8500`: Loads HL with the memory address 8500.  2. LOOP2:    - This is the start of a loop.    - `LXI D, 8600`: Loads DE with the memory address 8600.    - *Call Subroutine MUL*: This subroutine seems to multiply the contents of memory locations pointed by DE and HL, and store the result in A.    - `MOV B, A`: Copies the content of A to B.    - `INX H`: Increments HL.    - `INX D`: Increments DE twice.    - *Call Subroutine MUL* again.    - `ADD B`: Adds the content of B to A.    - *Call Subroutine STORE*: This subroutine seems to store the content of A in a memory location pointed by BC.    - `DCX H`: Decrements HL.    - `DCX D`: Decrements DE twice.    - *Call Subroutine MUL* once more.    - `MOV B, A`: Copies the content of A to B.    - `INX H`: Increments HL.    - `INX D`: Increments DE twice.    - `ADD B`: Adds the content of B to A.    - *Call Subroutine STORE*: Stores the content of A in a memory location pointed by BC.    - `MOV A, C`: Moves the content of C to A.    - `CPI 04`: Compares A with the immediate value 04.  </vt:lpstr>
      <vt:lpstr>3. Conditional Jump:    - `JZ LOOP1`: Jumps to LOOP1 if the Zero flag is set (meaning A is equal to 4). 4. More Incrementing and Looping:    - `INX H`: Increments HL.    - `JMP LOOP2`: Jumps back to the start of.  5. LOOP1:    - This is the label where the program goes if A is equal to 4.    - `HLT`: Halts the microprocessor.  6. Subroutine MUL:    - This subroutine performs the following steps:      - `LDAX D`: Loads A from the memory location pointed by DE.      - `MOV D, A`: Copies A to D.      - `MOV H, M`: Copies the content of the memory location pointed by HL to H.      - `DCR H`: Decrements H.      - `JZ LOOP3`: Jumps to LOOP3 if H is zero.      - *LOOP4*: This is a loop label.        - `ADD D`: Adds D to A.        - `DCR H`: Decrements H.        - `JNZ LOOP4`: Jumps to LOOP4 if H is not zero.      - `LOOP3`: This is a label that is reached if H became zero.      - `MVI H, 85`: Sets H to 85.      - `MVI D, 86`: Sets D to 86.      - `RET`: Returns from the subroutine.</vt:lpstr>
      <vt:lpstr>7. Subroutine STORE:    - This subroutine does the following:       - `MVI B, 87`: Sets B to 87.      - `STAX B`: Stores A in the memory location pointed by BC.      - `INR C`: Increments C.      - `RET`: Returns from the subroutine.   This code is designed to multiply two matrices and store the result in a different memory location. It uses a few subroutines (`MUL` and `STORE`) for modularity and  scalability.</vt:lpstr>
      <vt:lpstr>    ~ FlowCharts                        Figure 1: Multiplication of 2 numbers                     Figure 2: Mutliplying row  with column </vt:lpstr>
      <vt:lpstr>~ FlowCharts contd…. </vt:lpstr>
      <vt:lpstr>Implementation  1)code for multiplication(memory management of the code) ; two numbers to be multiplied ; are stored in 0002H and ; 0003H, ;output is stored in 0004H  MOV B,0002H MOV C,0003H MVI A,00H LOOP: ADD B DCR C JNZ LOOP STA 0004H </vt:lpstr>
      <vt:lpstr>; Load immediate value 8500H into register pair H LXI H, 8500H  ; Push the content of memory address 8508H onto the stack PUSH 8508H  ; Method: Store the content of register A into memory location pointed by HL MOV M, A  ; Exchange the content of DE and HL register pairs XCHG  ; Store the content of register B into memory location pointed by HL MOV M, B  ; Call a subroutine named "MUL" CALL MUL  ; Store the content of accumulator A into memory address 8516H STA 8516H  </vt:lpstr>
      <vt:lpstr>; Increment the value of register pair H (HL) INX H  ; Exchange the content of DE and HL register pairs XCHG  ; Increment the value of register pair H (HL) INX H  ; Unconditional jump to the label "Method" JMP Method </vt:lpstr>
      <vt:lpstr> MVI C, 00             ; Initialize register C with 00 LXI H, 8500           ; Load HL with memory address 8500  LOOP2:     LXI D, 8600       ; Load DE with memory address 8600      ; Call subroutine MUL     CALL MUL      MOV B, A          ; Move the content of A to B     INX H             ; Increment HL     INX D             ; Increment DE     INX D             ; Increment DE      ; Call subroutine MUL     CALL MUL      ADD B             ; Add B to A     CALL STORE        ; Call subroutine STORE      DCX H             ; Decrement HL     DCX D             ; Decrement DE      ; Call subroutine MUL     CALL MUL        </vt:lpstr>
      <vt:lpstr> MOV B, A          ; Move the content of A to B     INX H             ; Increment HL     INX D             ; Increment DE     INX D             ; Increment DE      ADD B             ; Add B to A     CALL STORE        ; Call subroutine STORE      MOV A, C          ; Move the content of C to A     CPI 04            ; Compare A with immediate value 04      ; Jump to LOOP1 if A is equal to 4     JZ LOOP1      INX H             ; Increment HL     JMP LOOP2         ; Jump to LOOP2  LOOP1:     HLT                ; Halt the microprocessor  MUL:     LDAX D             ; Load A from memory address pointed by DE     MOV D, A           ; Move A to D     MOV H, M           ; Move the content of memory address pointed by HL to H     DCR H              ; Decrement H     JZ LOOP3           ; Jump to LOOP3 if H is zero  LOOP4:     ADD D              ; Add D to A     DCR H              ; Decrement H     JNZ LOOP4          ; Jump to LOOP4 if H is not zero   </vt:lpstr>
      <vt:lpstr> LOOP3:     MVI H, 85          ; Move immediate value 85 to H     MVI D, 86          ; Move immediate value 86 to D     RET                ; Return from subroutine MUL  STORE:     MVI B, 87          ; Move immediate value 87 to B     STAX B             ; Store A in memory address pointed by BC     INR C              ; Increment C     RET                ; Return from subroutine STORE</vt:lpstr>
      <vt:lpstr>PowerPoint Presentation</vt:lpstr>
      <vt:lpstr>PowerPoint Presentation</vt:lpstr>
      <vt:lpstr>PowerPoint Presentation</vt:lpstr>
      <vt:lpstr>  This project aims to implement an efficient matrix multiplication algorithm using the 8085 assembly language, showcasing the capabilities of the 8085 microprocessor in performing complex mathematical tasks. The goal is to optimize the assembly code for memory usage and performance while accommodating matrices of varying dimensions. This project also demonstrates the practical application of assembly language programming in scientific computing and other fields. Ultimately, the project seeks to highlight the microprocessor's potential for advanced calculations and underscore its significance in historical and contemporary computing contexts.</vt:lpstr>
      <vt:lpstr> • Matrix multiplication is used in graphics and computer animation for transforming 2D and 3D objects and creating realistic animations. • It finds application in engineering and physics for solving linear equations and analyzing electrical circuits. • Economics and finance utilize matrix multiplication in Markov chain modeling and portfolio optimization. • In machine learning and data analysis, it underpins neural networks and principal component analysis (PCA).      </vt:lpstr>
      <vt:lpstr>                                 Timeplan  10-Week Project Summary      Week 1-2: Planning &amp; Research     Conducted market research.     Drafted preliminary blueprints.     Excluded development, marketing, and post-launch activities.    Week 3-4: Algorithm Implementation    Developed 2x2 matrix multiplication in 8085 assembly.    Laid groundwork for future enhancements.     Week 5-6: Microprocessor Adaptation    Modified algorithm for 8085 constraints.    Addressed memory limitations and register efficiency.    Week 7-8: Interface Development    Crafted UIs for library admin and patrons.     Incorporated search, dashboard, and reservation tools.    Week 9-10: Testing &amp; Optimization    Conducted comprehensive tests.    Identified and rectified bottlenecks.   Optimized for 8085 capabilities.   Conclusion: Over 10 weeks, the team transitioned from foundational research to creating an efficient matrix multiplication       algorithm tailored for the 8085 microprocessor, along with user-centric interfaces for library operations.   </vt:lpstr>
      <vt:lpstr>1) Microprocessor Architecture, Programming, and Applications with the 8085 - S Gaonka  2) http://google.com  3)http://en.wikipedia.org/wiki/Matrix multiplication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 matrix multiplication using 8085 assembly language.</dc:title>
  <dc:creator>aayush neupane</dc:creator>
  <cp:lastModifiedBy>Roshan Kumar Mishra</cp:lastModifiedBy>
  <cp:revision>22</cp:revision>
  <dcterms:created xsi:type="dcterms:W3CDTF">2023-08-16T14:50:33Z</dcterms:created>
  <dcterms:modified xsi:type="dcterms:W3CDTF">2023-11-15T08:18:16Z</dcterms:modified>
</cp:coreProperties>
</file>